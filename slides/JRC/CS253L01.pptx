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9" r:id="rId9"/>
    <p:sldId id="263" r:id="rId10"/>
    <p:sldId id="264" r:id="rId11"/>
    <p:sldId id="265" r:id="rId12"/>
    <p:sldId id="266" r:id="rId13"/>
    <p:sldId id="267" r:id="rId14"/>
    <p:sldId id="272" r:id="rId15"/>
    <p:sldId id="270" r:id="rId16"/>
    <p:sldId id="271" r:id="rId17"/>
    <p:sldId id="273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67"/>
    <p:restoredTop sz="94586"/>
  </p:normalViewPr>
  <p:slideViewPr>
    <p:cSldViewPr snapToGrid="0" snapToObjects="1">
      <p:cViewPr varScale="1">
        <p:scale>
          <a:sx n="95" d="100"/>
          <a:sy n="95" d="100"/>
        </p:scale>
        <p:origin x="200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F6F4650-1F48-5D4B-A965-CA44D623016D}" type="doc">
      <dgm:prSet loTypeId="urn:microsoft.com/office/officeart/2005/8/layout/process3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DA409BC-52EB-3F45-BB00-E5ED77CCA00E}">
      <dgm:prSet phldrT="[Text]"/>
      <dgm:spPr/>
      <dgm:t>
        <a:bodyPr/>
        <a:lstStyle/>
        <a:p>
          <a:r>
            <a:rPr lang="en-US" dirty="0" smtClean="0"/>
            <a:t>Edit</a:t>
          </a:r>
          <a:endParaRPr lang="en-US" dirty="0"/>
        </a:p>
      </dgm:t>
    </dgm:pt>
    <dgm:pt modelId="{0D18916B-92C9-F246-9459-95A92C1AA7D2}" type="parTrans" cxnId="{E7EC4CF8-55A5-EB48-9C54-085431F18C06}">
      <dgm:prSet/>
      <dgm:spPr/>
      <dgm:t>
        <a:bodyPr/>
        <a:lstStyle/>
        <a:p>
          <a:endParaRPr lang="en-US"/>
        </a:p>
      </dgm:t>
    </dgm:pt>
    <dgm:pt modelId="{4C5F1EB5-47D0-2D46-AF8E-DBF934C2341E}" type="sibTrans" cxnId="{E7EC4CF8-55A5-EB48-9C54-085431F18C06}">
      <dgm:prSet/>
      <dgm:spPr/>
      <dgm:t>
        <a:bodyPr/>
        <a:lstStyle/>
        <a:p>
          <a:r>
            <a:rPr lang="en-US" dirty="0" smtClean="0"/>
            <a:t>*.c</a:t>
          </a:r>
          <a:endParaRPr lang="en-US" dirty="0"/>
        </a:p>
      </dgm:t>
    </dgm:pt>
    <dgm:pt modelId="{E34D1488-4492-DE4A-9A94-0196755F47F9}">
      <dgm:prSet phldrT="[Text]"/>
      <dgm:spPr/>
      <dgm:t>
        <a:bodyPr/>
        <a:lstStyle/>
        <a:p>
          <a:r>
            <a:rPr lang="en-US" dirty="0" smtClean="0"/>
            <a:t>eclipse</a:t>
          </a:r>
          <a:endParaRPr lang="en-US" dirty="0"/>
        </a:p>
      </dgm:t>
    </dgm:pt>
    <dgm:pt modelId="{DC5EA22C-0D04-A649-A6D9-D0D4CE319D62}" type="parTrans" cxnId="{46DAB0E8-74B5-694D-9456-489F62F60CAE}">
      <dgm:prSet/>
      <dgm:spPr/>
      <dgm:t>
        <a:bodyPr/>
        <a:lstStyle/>
        <a:p>
          <a:endParaRPr lang="en-US"/>
        </a:p>
      </dgm:t>
    </dgm:pt>
    <dgm:pt modelId="{081D86B8-B952-514D-9CD2-67760BCD376B}" type="sibTrans" cxnId="{46DAB0E8-74B5-694D-9456-489F62F60CAE}">
      <dgm:prSet/>
      <dgm:spPr/>
      <dgm:t>
        <a:bodyPr/>
        <a:lstStyle/>
        <a:p>
          <a:endParaRPr lang="en-US"/>
        </a:p>
      </dgm:t>
    </dgm:pt>
    <dgm:pt modelId="{B2FE4AAF-5041-AD45-807E-155B30CF1D95}">
      <dgm:prSet phldrT="[Text]"/>
      <dgm:spPr/>
      <dgm:t>
        <a:bodyPr/>
        <a:lstStyle/>
        <a:p>
          <a:r>
            <a:rPr lang="en-US" dirty="0" err="1" smtClean="0"/>
            <a:t>gcc</a:t>
          </a:r>
          <a:endParaRPr lang="en-US" dirty="0"/>
        </a:p>
      </dgm:t>
    </dgm:pt>
    <dgm:pt modelId="{A2E10DFC-7241-124A-8B8C-4257E412959F}" type="parTrans" cxnId="{536DA3C1-31D4-0B4C-93EE-7D719ACD813D}">
      <dgm:prSet/>
      <dgm:spPr/>
      <dgm:t>
        <a:bodyPr/>
        <a:lstStyle/>
        <a:p>
          <a:endParaRPr lang="en-US"/>
        </a:p>
      </dgm:t>
    </dgm:pt>
    <dgm:pt modelId="{8BF56ADC-8C52-914C-A89B-980FB145A8CD}" type="sibTrans" cxnId="{536DA3C1-31D4-0B4C-93EE-7D719ACD813D}">
      <dgm:prSet/>
      <dgm:spPr/>
      <dgm:t>
        <a:bodyPr/>
        <a:lstStyle/>
        <a:p>
          <a:endParaRPr lang="en-US"/>
        </a:p>
      </dgm:t>
    </dgm:pt>
    <dgm:pt modelId="{22CEF46B-A5C0-1E44-99DF-CE905DD74D0F}">
      <dgm:prSet phldrT="[Text]"/>
      <dgm:spPr/>
      <dgm:t>
        <a:bodyPr/>
        <a:lstStyle/>
        <a:p>
          <a:r>
            <a:rPr lang="en-US" dirty="0" smtClean="0"/>
            <a:t>Execute</a:t>
          </a:r>
          <a:endParaRPr lang="en-US" dirty="0"/>
        </a:p>
      </dgm:t>
    </dgm:pt>
    <dgm:pt modelId="{0066949F-EA57-2349-8010-7F01580F5F50}" type="parTrans" cxnId="{F007D444-CF9F-0B4A-9855-B5BE7BAE17B0}">
      <dgm:prSet/>
      <dgm:spPr/>
      <dgm:t>
        <a:bodyPr/>
        <a:lstStyle/>
        <a:p>
          <a:endParaRPr lang="en-US"/>
        </a:p>
      </dgm:t>
    </dgm:pt>
    <dgm:pt modelId="{13B2FF73-DEB8-A14B-80EC-DF925D7E31D7}" type="sibTrans" cxnId="{F007D444-CF9F-0B4A-9855-B5BE7BAE17B0}">
      <dgm:prSet/>
      <dgm:spPr/>
      <dgm:t>
        <a:bodyPr/>
        <a:lstStyle/>
        <a:p>
          <a:endParaRPr lang="en-US"/>
        </a:p>
      </dgm:t>
    </dgm:pt>
    <dgm:pt modelId="{FABA245D-FB19-6144-8253-F96DDEA2596C}">
      <dgm:prSet phldrT="[Text]"/>
      <dgm:spPr/>
      <dgm:t>
        <a:bodyPr/>
        <a:lstStyle/>
        <a:p>
          <a:r>
            <a:rPr lang="en-US" dirty="0" smtClean="0"/>
            <a:t>vim</a:t>
          </a:r>
          <a:endParaRPr lang="en-US" dirty="0"/>
        </a:p>
      </dgm:t>
    </dgm:pt>
    <dgm:pt modelId="{250D36E6-4399-684C-9B49-7F6B1A23AA35}" type="parTrans" cxnId="{68AF24A7-626B-314C-B557-CC617616F5C6}">
      <dgm:prSet/>
      <dgm:spPr/>
      <dgm:t>
        <a:bodyPr/>
        <a:lstStyle/>
        <a:p>
          <a:endParaRPr lang="en-US"/>
        </a:p>
      </dgm:t>
    </dgm:pt>
    <dgm:pt modelId="{4A2F5832-ACBE-3D46-BB09-719FBD33DCAE}" type="sibTrans" cxnId="{68AF24A7-626B-314C-B557-CC617616F5C6}">
      <dgm:prSet/>
      <dgm:spPr/>
      <dgm:t>
        <a:bodyPr/>
        <a:lstStyle/>
        <a:p>
          <a:endParaRPr lang="en-US"/>
        </a:p>
      </dgm:t>
    </dgm:pt>
    <dgm:pt modelId="{2788E024-3744-7B48-9525-1F8C1DF300B6}">
      <dgm:prSet phldrT="[Text]"/>
      <dgm:spPr/>
      <dgm:t>
        <a:bodyPr/>
        <a:lstStyle/>
        <a:p>
          <a:r>
            <a:rPr lang="en-US" dirty="0" err="1" smtClean="0"/>
            <a:t>emacs</a:t>
          </a:r>
          <a:endParaRPr lang="en-US" dirty="0"/>
        </a:p>
      </dgm:t>
    </dgm:pt>
    <dgm:pt modelId="{E76DDAB7-CD3D-D54E-BF94-44BA59F05CCD}" type="parTrans" cxnId="{B954FAC1-690C-8547-8DEE-C6783988CEAB}">
      <dgm:prSet/>
      <dgm:spPr/>
      <dgm:t>
        <a:bodyPr/>
        <a:lstStyle/>
        <a:p>
          <a:endParaRPr lang="en-US"/>
        </a:p>
      </dgm:t>
    </dgm:pt>
    <dgm:pt modelId="{ACC9A833-A80D-0B45-879B-E6BA5600D03A}" type="sibTrans" cxnId="{B954FAC1-690C-8547-8DEE-C6783988CEAB}">
      <dgm:prSet/>
      <dgm:spPr/>
      <dgm:t>
        <a:bodyPr/>
        <a:lstStyle/>
        <a:p>
          <a:endParaRPr lang="en-US"/>
        </a:p>
      </dgm:t>
    </dgm:pt>
    <dgm:pt modelId="{91829D42-0FB7-FB49-9132-CB31B46C5B4E}">
      <dgm:prSet phldrT="[Text]"/>
      <dgm:spPr/>
      <dgm:t>
        <a:bodyPr/>
        <a:lstStyle/>
        <a:p>
          <a:r>
            <a:rPr lang="en-US" dirty="0" err="1" smtClean="0"/>
            <a:t>kwrite</a:t>
          </a:r>
          <a:endParaRPr lang="en-US" dirty="0"/>
        </a:p>
      </dgm:t>
    </dgm:pt>
    <dgm:pt modelId="{95B4D368-5120-7246-A2A8-E2F5EAE7184F}" type="parTrans" cxnId="{A4368DD0-1D67-5C45-8946-6EF9AF9657BF}">
      <dgm:prSet/>
      <dgm:spPr/>
      <dgm:t>
        <a:bodyPr/>
        <a:lstStyle/>
        <a:p>
          <a:endParaRPr lang="en-US"/>
        </a:p>
      </dgm:t>
    </dgm:pt>
    <dgm:pt modelId="{31F06138-42B9-EC41-B3CA-8B1B12562171}" type="sibTrans" cxnId="{A4368DD0-1D67-5C45-8946-6EF9AF9657BF}">
      <dgm:prSet/>
      <dgm:spPr/>
      <dgm:t>
        <a:bodyPr/>
        <a:lstStyle/>
        <a:p>
          <a:endParaRPr lang="en-US"/>
        </a:p>
      </dgm:t>
    </dgm:pt>
    <dgm:pt modelId="{3A8D9845-661D-5546-95EC-DAE645BC6295}">
      <dgm:prSet phldrT="[Text]"/>
      <dgm:spPr/>
      <dgm:t>
        <a:bodyPr/>
        <a:lstStyle/>
        <a:p>
          <a:r>
            <a:rPr lang="en-US" dirty="0" smtClean="0"/>
            <a:t>Compile</a:t>
          </a:r>
          <a:endParaRPr lang="en-US" dirty="0"/>
        </a:p>
      </dgm:t>
    </dgm:pt>
    <dgm:pt modelId="{B3FD395D-2936-FB4E-96DD-0199337598ED}" type="parTrans" cxnId="{989C11B2-3195-FD42-A67D-CAD0D14473B3}">
      <dgm:prSet/>
      <dgm:spPr/>
      <dgm:t>
        <a:bodyPr/>
        <a:lstStyle/>
        <a:p>
          <a:endParaRPr lang="en-US"/>
        </a:p>
      </dgm:t>
    </dgm:pt>
    <dgm:pt modelId="{32FF97B3-59EB-964F-AA93-CBBAF1FC2251}" type="sibTrans" cxnId="{989C11B2-3195-FD42-A67D-CAD0D14473B3}">
      <dgm:prSet/>
      <dgm:spPr/>
      <dgm:t>
        <a:bodyPr/>
        <a:lstStyle/>
        <a:p>
          <a:r>
            <a:rPr lang="en-US" dirty="0" smtClean="0"/>
            <a:t>*.o</a:t>
          </a:r>
          <a:endParaRPr lang="en-US" dirty="0"/>
        </a:p>
      </dgm:t>
    </dgm:pt>
    <dgm:pt modelId="{EF021D95-0361-454C-B8BE-369639DA4430}">
      <dgm:prSet phldrT="[Text]"/>
      <dgm:spPr/>
      <dgm:t>
        <a:bodyPr/>
        <a:lstStyle/>
        <a:p>
          <a:r>
            <a:rPr lang="en-US" dirty="0" smtClean="0"/>
            <a:t>Link</a:t>
          </a:r>
          <a:endParaRPr lang="en-US" dirty="0"/>
        </a:p>
      </dgm:t>
    </dgm:pt>
    <dgm:pt modelId="{045FB120-FCD7-5142-8AD6-601EFC20E2D3}" type="parTrans" cxnId="{73EB1A61-E20F-5247-ABCF-48807FD8CC4C}">
      <dgm:prSet/>
      <dgm:spPr/>
      <dgm:t>
        <a:bodyPr/>
        <a:lstStyle/>
        <a:p>
          <a:endParaRPr lang="en-US"/>
        </a:p>
      </dgm:t>
    </dgm:pt>
    <dgm:pt modelId="{02B0C508-69F7-104F-B599-3DBB6829D411}" type="sibTrans" cxnId="{73EB1A61-E20F-5247-ABCF-48807FD8CC4C}">
      <dgm:prSet/>
      <dgm:spPr/>
      <dgm:t>
        <a:bodyPr/>
        <a:lstStyle/>
        <a:p>
          <a:r>
            <a:rPr lang="en-US" dirty="0" err="1" smtClean="0"/>
            <a:t>a.out</a:t>
          </a:r>
          <a:endParaRPr lang="en-US" dirty="0"/>
        </a:p>
      </dgm:t>
    </dgm:pt>
    <dgm:pt modelId="{648FA668-3E75-F043-9950-3E64D64CAC0C}">
      <dgm:prSet phldrT="[Text]"/>
      <dgm:spPr/>
      <dgm:t>
        <a:bodyPr/>
        <a:lstStyle/>
        <a:p>
          <a:r>
            <a:rPr lang="en-US" dirty="0" err="1" smtClean="0"/>
            <a:t>gcc</a:t>
          </a:r>
          <a:endParaRPr lang="en-US" dirty="0"/>
        </a:p>
      </dgm:t>
    </dgm:pt>
    <dgm:pt modelId="{90F6F6E1-FBFA-1F47-9863-9549484EB117}" type="parTrans" cxnId="{752EDE77-247A-744C-9BE5-79787699BC70}">
      <dgm:prSet/>
      <dgm:spPr/>
      <dgm:t>
        <a:bodyPr/>
        <a:lstStyle/>
        <a:p>
          <a:endParaRPr lang="en-US"/>
        </a:p>
      </dgm:t>
    </dgm:pt>
    <dgm:pt modelId="{465455A9-6A6D-0540-8C9F-F7E6AEE30272}" type="sibTrans" cxnId="{752EDE77-247A-744C-9BE5-79787699BC70}">
      <dgm:prSet/>
      <dgm:spPr/>
      <dgm:t>
        <a:bodyPr/>
        <a:lstStyle/>
        <a:p>
          <a:endParaRPr lang="en-US"/>
        </a:p>
      </dgm:t>
    </dgm:pt>
    <dgm:pt modelId="{9A95A566-8931-D442-B8E5-9E24536E7283}" type="pres">
      <dgm:prSet presAssocID="{6F6F4650-1F48-5D4B-A965-CA44D623016D}" presName="linearFlow" presStyleCnt="0">
        <dgm:presLayoutVars>
          <dgm:dir/>
          <dgm:animLvl val="lvl"/>
          <dgm:resizeHandles val="exact"/>
        </dgm:presLayoutVars>
      </dgm:prSet>
      <dgm:spPr/>
    </dgm:pt>
    <dgm:pt modelId="{AC612096-332F-5E49-91B1-784B4B2D036B}" type="pres">
      <dgm:prSet presAssocID="{ADA409BC-52EB-3F45-BB00-E5ED77CCA00E}" presName="composite" presStyleCnt="0"/>
      <dgm:spPr/>
    </dgm:pt>
    <dgm:pt modelId="{C970DBB1-6B56-9642-828C-ED6F8BE1138C}" type="pres">
      <dgm:prSet presAssocID="{ADA409BC-52EB-3F45-BB00-E5ED77CCA00E}" presName="parTx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516E0EF-CD34-3048-B475-6D32E64F7725}" type="pres">
      <dgm:prSet presAssocID="{ADA409BC-52EB-3F45-BB00-E5ED77CCA00E}" presName="parSh" presStyleLbl="node1" presStyleIdx="0" presStyleCnt="4"/>
      <dgm:spPr/>
      <dgm:t>
        <a:bodyPr/>
        <a:lstStyle/>
        <a:p>
          <a:endParaRPr lang="en-US"/>
        </a:p>
      </dgm:t>
    </dgm:pt>
    <dgm:pt modelId="{EE24CBD2-B6BB-3647-AB34-AE67EB3082B9}" type="pres">
      <dgm:prSet presAssocID="{ADA409BC-52EB-3F45-BB00-E5ED77CCA00E}" presName="desTx" presStyleLbl="fgAcc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CBDDB3C-A751-7443-BC39-972CDC0D18A0}" type="pres">
      <dgm:prSet presAssocID="{4C5F1EB5-47D0-2D46-AF8E-DBF934C2341E}" presName="sibTrans" presStyleLbl="sibTrans2D1" presStyleIdx="0" presStyleCnt="3"/>
      <dgm:spPr/>
      <dgm:t>
        <a:bodyPr/>
        <a:lstStyle/>
        <a:p>
          <a:endParaRPr lang="en-US"/>
        </a:p>
      </dgm:t>
    </dgm:pt>
    <dgm:pt modelId="{BF70A7CC-2346-3144-BFFB-BCC674B1C98E}" type="pres">
      <dgm:prSet presAssocID="{4C5F1EB5-47D0-2D46-AF8E-DBF934C2341E}" presName="connTx" presStyleLbl="sibTrans2D1" presStyleIdx="0" presStyleCnt="3"/>
      <dgm:spPr/>
      <dgm:t>
        <a:bodyPr/>
        <a:lstStyle/>
        <a:p>
          <a:endParaRPr lang="en-US"/>
        </a:p>
      </dgm:t>
    </dgm:pt>
    <dgm:pt modelId="{85A57CA9-45FF-CC4B-914F-9572B968A9D8}" type="pres">
      <dgm:prSet presAssocID="{3A8D9845-661D-5546-95EC-DAE645BC6295}" presName="composite" presStyleCnt="0"/>
      <dgm:spPr/>
    </dgm:pt>
    <dgm:pt modelId="{C3A6B8F6-2399-6E44-A701-9B8D41D02093}" type="pres">
      <dgm:prSet presAssocID="{3A8D9845-661D-5546-95EC-DAE645BC6295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7D838EBD-BC01-9648-8B26-194A4A736070}" type="pres">
      <dgm:prSet presAssocID="{3A8D9845-661D-5546-95EC-DAE645BC6295}" presName="parSh" presStyleLbl="node1" presStyleIdx="1" presStyleCnt="4"/>
      <dgm:spPr/>
    </dgm:pt>
    <dgm:pt modelId="{E0DF3329-844F-B64F-82F8-1FE1115812BC}" type="pres">
      <dgm:prSet presAssocID="{3A8D9845-661D-5546-95EC-DAE645BC6295}" presName="desTx" presStyleLbl="fgAcc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2421DC8-4C9D-464B-9F73-D38F2A1D0D4E}" type="pres">
      <dgm:prSet presAssocID="{32FF97B3-59EB-964F-AA93-CBBAF1FC2251}" presName="sibTrans" presStyleLbl="sibTrans2D1" presStyleIdx="1" presStyleCnt="3"/>
      <dgm:spPr/>
    </dgm:pt>
    <dgm:pt modelId="{B6743290-0AFC-A841-954B-52461BC8556E}" type="pres">
      <dgm:prSet presAssocID="{32FF97B3-59EB-964F-AA93-CBBAF1FC2251}" presName="connTx" presStyleLbl="sibTrans2D1" presStyleIdx="1" presStyleCnt="3"/>
      <dgm:spPr/>
    </dgm:pt>
    <dgm:pt modelId="{EA62AD6C-7650-F14E-89AC-D5FC6999B592}" type="pres">
      <dgm:prSet presAssocID="{EF021D95-0361-454C-B8BE-369639DA4430}" presName="composite" presStyleCnt="0"/>
      <dgm:spPr/>
    </dgm:pt>
    <dgm:pt modelId="{E0DE6778-D41C-C949-B200-11F3CEBA2C4B}" type="pres">
      <dgm:prSet presAssocID="{EF021D95-0361-454C-B8BE-369639DA4430}" presName="parTx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0119A2CD-C4EF-C046-9B7A-CCE76A01246B}" type="pres">
      <dgm:prSet presAssocID="{EF021D95-0361-454C-B8BE-369639DA4430}" presName="parSh" presStyleLbl="node1" presStyleIdx="2" presStyleCnt="4"/>
      <dgm:spPr/>
    </dgm:pt>
    <dgm:pt modelId="{8DD49C97-AAF5-0A4E-B462-EFDC89D3AFD3}" type="pres">
      <dgm:prSet presAssocID="{EF021D95-0361-454C-B8BE-369639DA4430}" presName="desTx" presStyleLbl="fgAcc1" presStyleIdx="2" presStyleCnt="4">
        <dgm:presLayoutVars>
          <dgm:bulletEnabled val="1"/>
        </dgm:presLayoutVars>
      </dgm:prSet>
      <dgm:spPr/>
    </dgm:pt>
    <dgm:pt modelId="{E2F96D9F-AB08-E640-B977-50BFE3008110}" type="pres">
      <dgm:prSet presAssocID="{02B0C508-69F7-104F-B599-3DBB6829D411}" presName="sibTrans" presStyleLbl="sibTrans2D1" presStyleIdx="2" presStyleCnt="3"/>
      <dgm:spPr/>
      <dgm:t>
        <a:bodyPr/>
        <a:lstStyle/>
        <a:p>
          <a:endParaRPr lang="en-US"/>
        </a:p>
      </dgm:t>
    </dgm:pt>
    <dgm:pt modelId="{BF0715F3-1C3A-E643-B606-AE668633774A}" type="pres">
      <dgm:prSet presAssocID="{02B0C508-69F7-104F-B599-3DBB6829D411}" presName="connTx" presStyleLbl="sibTrans2D1" presStyleIdx="2" presStyleCnt="3"/>
      <dgm:spPr/>
      <dgm:t>
        <a:bodyPr/>
        <a:lstStyle/>
        <a:p>
          <a:endParaRPr lang="en-US"/>
        </a:p>
      </dgm:t>
    </dgm:pt>
    <dgm:pt modelId="{80B5BAB9-00EF-E244-9617-294A44E2911E}" type="pres">
      <dgm:prSet presAssocID="{22CEF46B-A5C0-1E44-99DF-CE905DD74D0F}" presName="composite" presStyleCnt="0"/>
      <dgm:spPr/>
    </dgm:pt>
    <dgm:pt modelId="{78DEBFB1-DBD0-F54D-B4C6-4D0225D348BE}" type="pres">
      <dgm:prSet presAssocID="{22CEF46B-A5C0-1E44-99DF-CE905DD74D0F}" presName="parTx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2A79F767-1CEB-A944-9536-C44CCA90632D}" type="pres">
      <dgm:prSet presAssocID="{22CEF46B-A5C0-1E44-99DF-CE905DD74D0F}" presName="parSh" presStyleLbl="node1" presStyleIdx="3" presStyleCnt="4"/>
      <dgm:spPr/>
    </dgm:pt>
    <dgm:pt modelId="{6DB9280B-D514-B548-833D-EBED3FF69866}" type="pres">
      <dgm:prSet presAssocID="{22CEF46B-A5C0-1E44-99DF-CE905DD74D0F}" presName="desTx" presStyleLbl="fgAcc1" presStyleIdx="3" presStyleCnt="4">
        <dgm:presLayoutVars>
          <dgm:bulletEnabled val="1"/>
        </dgm:presLayoutVars>
      </dgm:prSet>
      <dgm:spPr>
        <a:noFill/>
      </dgm:spPr>
      <dgm:t>
        <a:bodyPr/>
        <a:lstStyle/>
        <a:p>
          <a:endParaRPr lang="en-US"/>
        </a:p>
      </dgm:t>
    </dgm:pt>
  </dgm:ptLst>
  <dgm:cxnLst>
    <dgm:cxn modelId="{93406168-1830-2A4E-BC3B-10585D74CD24}" type="presOf" srcId="{ADA409BC-52EB-3F45-BB00-E5ED77CCA00E}" destId="{C970DBB1-6B56-9642-828C-ED6F8BE1138C}" srcOrd="0" destOrd="0" presId="urn:microsoft.com/office/officeart/2005/8/layout/process3"/>
    <dgm:cxn modelId="{3DA60360-DD28-C74B-BDA1-9AC2AEB934CF}" type="presOf" srcId="{2788E024-3744-7B48-9525-1F8C1DF300B6}" destId="{EE24CBD2-B6BB-3647-AB34-AE67EB3082B9}" srcOrd="0" destOrd="3" presId="urn:microsoft.com/office/officeart/2005/8/layout/process3"/>
    <dgm:cxn modelId="{FFF3C47B-C7D3-F24F-A6E5-9AF1BA674042}" type="presOf" srcId="{FABA245D-FB19-6144-8253-F96DDEA2596C}" destId="{EE24CBD2-B6BB-3647-AB34-AE67EB3082B9}" srcOrd="0" destOrd="2" presId="urn:microsoft.com/office/officeart/2005/8/layout/process3"/>
    <dgm:cxn modelId="{EF916A28-439C-A644-BD1D-182D6A5ECC5D}" type="presOf" srcId="{EF021D95-0361-454C-B8BE-369639DA4430}" destId="{E0DE6778-D41C-C949-B200-11F3CEBA2C4B}" srcOrd="0" destOrd="0" presId="urn:microsoft.com/office/officeart/2005/8/layout/process3"/>
    <dgm:cxn modelId="{913E0A49-7675-BB4A-A051-DC04554F343C}" type="presOf" srcId="{B2FE4AAF-5041-AD45-807E-155B30CF1D95}" destId="{E0DF3329-844F-B64F-82F8-1FE1115812BC}" srcOrd="0" destOrd="0" presId="urn:microsoft.com/office/officeart/2005/8/layout/process3"/>
    <dgm:cxn modelId="{E7EC4CF8-55A5-EB48-9C54-085431F18C06}" srcId="{6F6F4650-1F48-5D4B-A965-CA44D623016D}" destId="{ADA409BC-52EB-3F45-BB00-E5ED77CCA00E}" srcOrd="0" destOrd="0" parTransId="{0D18916B-92C9-F246-9459-95A92C1AA7D2}" sibTransId="{4C5F1EB5-47D0-2D46-AF8E-DBF934C2341E}"/>
    <dgm:cxn modelId="{8885223F-28A2-D04E-B4E6-D92920E5EB8B}" type="presOf" srcId="{3A8D9845-661D-5546-95EC-DAE645BC6295}" destId="{7D838EBD-BC01-9648-8B26-194A4A736070}" srcOrd="1" destOrd="0" presId="urn:microsoft.com/office/officeart/2005/8/layout/process3"/>
    <dgm:cxn modelId="{94C90300-29D0-1D4B-AC5B-137C365FF05E}" type="presOf" srcId="{91829D42-0FB7-FB49-9132-CB31B46C5B4E}" destId="{EE24CBD2-B6BB-3647-AB34-AE67EB3082B9}" srcOrd="0" destOrd="1" presId="urn:microsoft.com/office/officeart/2005/8/layout/process3"/>
    <dgm:cxn modelId="{46DAB0E8-74B5-694D-9456-489F62F60CAE}" srcId="{ADA409BC-52EB-3F45-BB00-E5ED77CCA00E}" destId="{E34D1488-4492-DE4A-9A94-0196755F47F9}" srcOrd="0" destOrd="0" parTransId="{DC5EA22C-0D04-A649-A6D9-D0D4CE319D62}" sibTransId="{081D86B8-B952-514D-9CD2-67760BCD376B}"/>
    <dgm:cxn modelId="{D89A2616-C739-F649-B317-E2347EE22599}" type="presOf" srcId="{ADA409BC-52EB-3F45-BB00-E5ED77CCA00E}" destId="{9516E0EF-CD34-3048-B475-6D32E64F7725}" srcOrd="1" destOrd="0" presId="urn:microsoft.com/office/officeart/2005/8/layout/process3"/>
    <dgm:cxn modelId="{269B1B1C-4362-2B43-AE13-F73DD44E1A18}" type="presOf" srcId="{3A8D9845-661D-5546-95EC-DAE645BC6295}" destId="{C3A6B8F6-2399-6E44-A701-9B8D41D02093}" srcOrd="0" destOrd="0" presId="urn:microsoft.com/office/officeart/2005/8/layout/process3"/>
    <dgm:cxn modelId="{411892C9-C778-864C-86B0-005B7F6C9D35}" type="presOf" srcId="{4C5F1EB5-47D0-2D46-AF8E-DBF934C2341E}" destId="{BF70A7CC-2346-3144-BFFB-BCC674B1C98E}" srcOrd="1" destOrd="0" presId="urn:microsoft.com/office/officeart/2005/8/layout/process3"/>
    <dgm:cxn modelId="{155AAE4D-98ED-454B-8FC6-5A41F2AAE44B}" type="presOf" srcId="{22CEF46B-A5C0-1E44-99DF-CE905DD74D0F}" destId="{78DEBFB1-DBD0-F54D-B4C6-4D0225D348BE}" srcOrd="0" destOrd="0" presId="urn:microsoft.com/office/officeart/2005/8/layout/process3"/>
    <dgm:cxn modelId="{FA3E9AEE-BFE9-1D48-BB05-7E73C251532B}" type="presOf" srcId="{648FA668-3E75-F043-9950-3E64D64CAC0C}" destId="{8DD49C97-AAF5-0A4E-B462-EFDC89D3AFD3}" srcOrd="0" destOrd="0" presId="urn:microsoft.com/office/officeart/2005/8/layout/process3"/>
    <dgm:cxn modelId="{68AF24A7-626B-314C-B557-CC617616F5C6}" srcId="{ADA409BC-52EB-3F45-BB00-E5ED77CCA00E}" destId="{FABA245D-FB19-6144-8253-F96DDEA2596C}" srcOrd="2" destOrd="0" parTransId="{250D36E6-4399-684C-9B49-7F6B1A23AA35}" sibTransId="{4A2F5832-ACBE-3D46-BB09-719FBD33DCAE}"/>
    <dgm:cxn modelId="{E2C11E6F-10E7-8746-8738-D8B2CA456175}" type="presOf" srcId="{02B0C508-69F7-104F-B599-3DBB6829D411}" destId="{E2F96D9F-AB08-E640-B977-50BFE3008110}" srcOrd="0" destOrd="0" presId="urn:microsoft.com/office/officeart/2005/8/layout/process3"/>
    <dgm:cxn modelId="{916BAABA-AF7A-5447-9145-2BEBE9928DF6}" type="presOf" srcId="{32FF97B3-59EB-964F-AA93-CBBAF1FC2251}" destId="{A2421DC8-4C9D-464B-9F73-D38F2A1D0D4E}" srcOrd="0" destOrd="0" presId="urn:microsoft.com/office/officeart/2005/8/layout/process3"/>
    <dgm:cxn modelId="{989C11B2-3195-FD42-A67D-CAD0D14473B3}" srcId="{6F6F4650-1F48-5D4B-A965-CA44D623016D}" destId="{3A8D9845-661D-5546-95EC-DAE645BC6295}" srcOrd="1" destOrd="0" parTransId="{B3FD395D-2936-FB4E-96DD-0199337598ED}" sibTransId="{32FF97B3-59EB-964F-AA93-CBBAF1FC2251}"/>
    <dgm:cxn modelId="{A4368DD0-1D67-5C45-8946-6EF9AF9657BF}" srcId="{ADA409BC-52EB-3F45-BB00-E5ED77CCA00E}" destId="{91829D42-0FB7-FB49-9132-CB31B46C5B4E}" srcOrd="1" destOrd="0" parTransId="{95B4D368-5120-7246-A2A8-E2F5EAE7184F}" sibTransId="{31F06138-42B9-EC41-B3CA-8B1B12562171}"/>
    <dgm:cxn modelId="{7D17811C-3CC7-584A-B273-D97131CBEC55}" type="presOf" srcId="{02B0C508-69F7-104F-B599-3DBB6829D411}" destId="{BF0715F3-1C3A-E643-B606-AE668633774A}" srcOrd="1" destOrd="0" presId="urn:microsoft.com/office/officeart/2005/8/layout/process3"/>
    <dgm:cxn modelId="{752EDE77-247A-744C-9BE5-79787699BC70}" srcId="{EF021D95-0361-454C-B8BE-369639DA4430}" destId="{648FA668-3E75-F043-9950-3E64D64CAC0C}" srcOrd="0" destOrd="0" parTransId="{90F6F6E1-FBFA-1F47-9863-9549484EB117}" sibTransId="{465455A9-6A6D-0540-8C9F-F7E6AEE30272}"/>
    <dgm:cxn modelId="{CB2922FA-52B2-6246-B66E-D3E7964E725B}" type="presOf" srcId="{4C5F1EB5-47D0-2D46-AF8E-DBF934C2341E}" destId="{7CBDDB3C-A751-7443-BC39-972CDC0D18A0}" srcOrd="0" destOrd="0" presId="urn:microsoft.com/office/officeart/2005/8/layout/process3"/>
    <dgm:cxn modelId="{F007D444-CF9F-0B4A-9855-B5BE7BAE17B0}" srcId="{6F6F4650-1F48-5D4B-A965-CA44D623016D}" destId="{22CEF46B-A5C0-1E44-99DF-CE905DD74D0F}" srcOrd="3" destOrd="0" parTransId="{0066949F-EA57-2349-8010-7F01580F5F50}" sibTransId="{13B2FF73-DEB8-A14B-80EC-DF925D7E31D7}"/>
    <dgm:cxn modelId="{446B7CBA-F3B3-FD44-A84C-54B1CAAE1CBD}" type="presOf" srcId="{32FF97B3-59EB-964F-AA93-CBBAF1FC2251}" destId="{B6743290-0AFC-A841-954B-52461BC8556E}" srcOrd="1" destOrd="0" presId="urn:microsoft.com/office/officeart/2005/8/layout/process3"/>
    <dgm:cxn modelId="{B954FAC1-690C-8547-8DEE-C6783988CEAB}" srcId="{ADA409BC-52EB-3F45-BB00-E5ED77CCA00E}" destId="{2788E024-3744-7B48-9525-1F8C1DF300B6}" srcOrd="3" destOrd="0" parTransId="{E76DDAB7-CD3D-D54E-BF94-44BA59F05CCD}" sibTransId="{ACC9A833-A80D-0B45-879B-E6BA5600D03A}"/>
    <dgm:cxn modelId="{DC187558-5D23-D147-9789-C18D113947F1}" type="presOf" srcId="{E34D1488-4492-DE4A-9A94-0196755F47F9}" destId="{EE24CBD2-B6BB-3647-AB34-AE67EB3082B9}" srcOrd="0" destOrd="0" presId="urn:microsoft.com/office/officeart/2005/8/layout/process3"/>
    <dgm:cxn modelId="{81BE32DF-2392-1C41-8CBD-B58164A5A4B8}" type="presOf" srcId="{22CEF46B-A5C0-1E44-99DF-CE905DD74D0F}" destId="{2A79F767-1CEB-A944-9536-C44CCA90632D}" srcOrd="1" destOrd="0" presId="urn:microsoft.com/office/officeart/2005/8/layout/process3"/>
    <dgm:cxn modelId="{D18CB0B8-0E33-B548-857E-8D9798018FC7}" type="presOf" srcId="{6F6F4650-1F48-5D4B-A965-CA44D623016D}" destId="{9A95A566-8931-D442-B8E5-9E24536E7283}" srcOrd="0" destOrd="0" presId="urn:microsoft.com/office/officeart/2005/8/layout/process3"/>
    <dgm:cxn modelId="{536DA3C1-31D4-0B4C-93EE-7D719ACD813D}" srcId="{3A8D9845-661D-5546-95EC-DAE645BC6295}" destId="{B2FE4AAF-5041-AD45-807E-155B30CF1D95}" srcOrd="0" destOrd="0" parTransId="{A2E10DFC-7241-124A-8B8C-4257E412959F}" sibTransId="{8BF56ADC-8C52-914C-A89B-980FB145A8CD}"/>
    <dgm:cxn modelId="{2426128E-5C72-6545-9D82-4645C8DD49E7}" type="presOf" srcId="{EF021D95-0361-454C-B8BE-369639DA4430}" destId="{0119A2CD-C4EF-C046-9B7A-CCE76A01246B}" srcOrd="1" destOrd="0" presId="urn:microsoft.com/office/officeart/2005/8/layout/process3"/>
    <dgm:cxn modelId="{73EB1A61-E20F-5247-ABCF-48807FD8CC4C}" srcId="{6F6F4650-1F48-5D4B-A965-CA44D623016D}" destId="{EF021D95-0361-454C-B8BE-369639DA4430}" srcOrd="2" destOrd="0" parTransId="{045FB120-FCD7-5142-8AD6-601EFC20E2D3}" sibTransId="{02B0C508-69F7-104F-B599-3DBB6829D411}"/>
    <dgm:cxn modelId="{6C938F77-A866-4044-B914-C41C82FAE453}" type="presParOf" srcId="{9A95A566-8931-D442-B8E5-9E24536E7283}" destId="{AC612096-332F-5E49-91B1-784B4B2D036B}" srcOrd="0" destOrd="0" presId="urn:microsoft.com/office/officeart/2005/8/layout/process3"/>
    <dgm:cxn modelId="{21183086-E28D-4546-96ED-D13FAD186CB2}" type="presParOf" srcId="{AC612096-332F-5E49-91B1-784B4B2D036B}" destId="{C970DBB1-6B56-9642-828C-ED6F8BE1138C}" srcOrd="0" destOrd="0" presId="urn:microsoft.com/office/officeart/2005/8/layout/process3"/>
    <dgm:cxn modelId="{7697CE17-F0FD-DE41-865E-90A1C1613591}" type="presParOf" srcId="{AC612096-332F-5E49-91B1-784B4B2D036B}" destId="{9516E0EF-CD34-3048-B475-6D32E64F7725}" srcOrd="1" destOrd="0" presId="urn:microsoft.com/office/officeart/2005/8/layout/process3"/>
    <dgm:cxn modelId="{27995C53-3661-7F42-8D6E-C2671DE22EB1}" type="presParOf" srcId="{AC612096-332F-5E49-91B1-784B4B2D036B}" destId="{EE24CBD2-B6BB-3647-AB34-AE67EB3082B9}" srcOrd="2" destOrd="0" presId="urn:microsoft.com/office/officeart/2005/8/layout/process3"/>
    <dgm:cxn modelId="{2D884FE8-B642-0B43-AAAD-A798AABBA6FC}" type="presParOf" srcId="{9A95A566-8931-D442-B8E5-9E24536E7283}" destId="{7CBDDB3C-A751-7443-BC39-972CDC0D18A0}" srcOrd="1" destOrd="0" presId="urn:microsoft.com/office/officeart/2005/8/layout/process3"/>
    <dgm:cxn modelId="{8B0E5650-3A6E-1242-9611-B8D9DD83F0BB}" type="presParOf" srcId="{7CBDDB3C-A751-7443-BC39-972CDC0D18A0}" destId="{BF70A7CC-2346-3144-BFFB-BCC674B1C98E}" srcOrd="0" destOrd="0" presId="urn:microsoft.com/office/officeart/2005/8/layout/process3"/>
    <dgm:cxn modelId="{842E2A4B-D60B-954B-8595-C7D01162CE45}" type="presParOf" srcId="{9A95A566-8931-D442-B8E5-9E24536E7283}" destId="{85A57CA9-45FF-CC4B-914F-9572B968A9D8}" srcOrd="2" destOrd="0" presId="urn:microsoft.com/office/officeart/2005/8/layout/process3"/>
    <dgm:cxn modelId="{9BA20620-2678-AF47-BD92-25F77872C4A6}" type="presParOf" srcId="{85A57CA9-45FF-CC4B-914F-9572B968A9D8}" destId="{C3A6B8F6-2399-6E44-A701-9B8D41D02093}" srcOrd="0" destOrd="0" presId="urn:microsoft.com/office/officeart/2005/8/layout/process3"/>
    <dgm:cxn modelId="{EB7F74C2-59FB-F94E-9FC2-5A998108B3D2}" type="presParOf" srcId="{85A57CA9-45FF-CC4B-914F-9572B968A9D8}" destId="{7D838EBD-BC01-9648-8B26-194A4A736070}" srcOrd="1" destOrd="0" presId="urn:microsoft.com/office/officeart/2005/8/layout/process3"/>
    <dgm:cxn modelId="{45D7B860-7A49-B446-8C14-160D31371AF5}" type="presParOf" srcId="{85A57CA9-45FF-CC4B-914F-9572B968A9D8}" destId="{E0DF3329-844F-B64F-82F8-1FE1115812BC}" srcOrd="2" destOrd="0" presId="urn:microsoft.com/office/officeart/2005/8/layout/process3"/>
    <dgm:cxn modelId="{DC6ECBF6-FB8F-5C4A-AC74-2A524B171FBC}" type="presParOf" srcId="{9A95A566-8931-D442-B8E5-9E24536E7283}" destId="{A2421DC8-4C9D-464B-9F73-D38F2A1D0D4E}" srcOrd="3" destOrd="0" presId="urn:microsoft.com/office/officeart/2005/8/layout/process3"/>
    <dgm:cxn modelId="{F1B971CE-4931-084C-8571-49F14A5BF6B6}" type="presParOf" srcId="{A2421DC8-4C9D-464B-9F73-D38F2A1D0D4E}" destId="{B6743290-0AFC-A841-954B-52461BC8556E}" srcOrd="0" destOrd="0" presId="urn:microsoft.com/office/officeart/2005/8/layout/process3"/>
    <dgm:cxn modelId="{9240C036-2822-2648-9B1B-F0B7807E224D}" type="presParOf" srcId="{9A95A566-8931-D442-B8E5-9E24536E7283}" destId="{EA62AD6C-7650-F14E-89AC-D5FC6999B592}" srcOrd="4" destOrd="0" presId="urn:microsoft.com/office/officeart/2005/8/layout/process3"/>
    <dgm:cxn modelId="{5C5A4926-71E7-6C4D-B313-FA956FED9C8D}" type="presParOf" srcId="{EA62AD6C-7650-F14E-89AC-D5FC6999B592}" destId="{E0DE6778-D41C-C949-B200-11F3CEBA2C4B}" srcOrd="0" destOrd="0" presId="urn:microsoft.com/office/officeart/2005/8/layout/process3"/>
    <dgm:cxn modelId="{246BC845-FF86-2248-9800-6E6B427D7F16}" type="presParOf" srcId="{EA62AD6C-7650-F14E-89AC-D5FC6999B592}" destId="{0119A2CD-C4EF-C046-9B7A-CCE76A01246B}" srcOrd="1" destOrd="0" presId="urn:microsoft.com/office/officeart/2005/8/layout/process3"/>
    <dgm:cxn modelId="{AE5A34E1-00AC-DF4E-869B-F05942C64322}" type="presParOf" srcId="{EA62AD6C-7650-F14E-89AC-D5FC6999B592}" destId="{8DD49C97-AAF5-0A4E-B462-EFDC89D3AFD3}" srcOrd="2" destOrd="0" presId="urn:microsoft.com/office/officeart/2005/8/layout/process3"/>
    <dgm:cxn modelId="{B64544C9-6943-D74E-A17F-6AEC92634727}" type="presParOf" srcId="{9A95A566-8931-D442-B8E5-9E24536E7283}" destId="{E2F96D9F-AB08-E640-B977-50BFE3008110}" srcOrd="5" destOrd="0" presId="urn:microsoft.com/office/officeart/2005/8/layout/process3"/>
    <dgm:cxn modelId="{B9F03899-573A-A94D-9A06-DBCAB4E31CEB}" type="presParOf" srcId="{E2F96D9F-AB08-E640-B977-50BFE3008110}" destId="{BF0715F3-1C3A-E643-B606-AE668633774A}" srcOrd="0" destOrd="0" presId="urn:microsoft.com/office/officeart/2005/8/layout/process3"/>
    <dgm:cxn modelId="{903080C5-669A-A645-A26B-912CE5C6BE14}" type="presParOf" srcId="{9A95A566-8931-D442-B8E5-9E24536E7283}" destId="{80B5BAB9-00EF-E244-9617-294A44E2911E}" srcOrd="6" destOrd="0" presId="urn:microsoft.com/office/officeart/2005/8/layout/process3"/>
    <dgm:cxn modelId="{994150F5-37C3-F046-BCC8-B9E17967F071}" type="presParOf" srcId="{80B5BAB9-00EF-E244-9617-294A44E2911E}" destId="{78DEBFB1-DBD0-F54D-B4C6-4D0225D348BE}" srcOrd="0" destOrd="0" presId="urn:microsoft.com/office/officeart/2005/8/layout/process3"/>
    <dgm:cxn modelId="{A9C5580B-B2CD-4345-8004-5124EF5457D3}" type="presParOf" srcId="{80B5BAB9-00EF-E244-9617-294A44E2911E}" destId="{2A79F767-1CEB-A944-9536-C44CCA90632D}" srcOrd="1" destOrd="0" presId="urn:microsoft.com/office/officeart/2005/8/layout/process3"/>
    <dgm:cxn modelId="{92A3FBC0-79C4-994E-9962-588D4808A9C1}" type="presParOf" srcId="{80B5BAB9-00EF-E244-9617-294A44E2911E}" destId="{6DB9280B-D514-B548-833D-EBED3FF69866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16E0EF-CD34-3048-B475-6D32E64F7725}">
      <dsp:nvSpPr>
        <dsp:cNvPr id="0" name=""/>
        <dsp:cNvSpPr/>
      </dsp:nvSpPr>
      <dsp:spPr>
        <a:xfrm>
          <a:off x="1093" y="760368"/>
          <a:ext cx="1374706" cy="8208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30000"/>
                <a:lumMod val="114000"/>
              </a:schemeClr>
            </a:gs>
            <a:gs pos="60000">
              <a:schemeClr val="accent1">
                <a:hueOff val="0"/>
                <a:satOff val="0"/>
                <a:lumOff val="0"/>
                <a:alphaOff val="0"/>
                <a:tint val="100000"/>
                <a:satMod val="106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</a:schemeClr>
            </a:gs>
          </a:gsLst>
          <a:lin ang="5400000" scaled="0"/>
        </a:gradFill>
        <a:ln>
          <a:noFill/>
        </a:ln>
        <a:effectLst>
          <a:outerShdw blurRad="47625" dist="38100" dir="5400000" sy="98000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woPt" dir="br">
            <a:rot lat="0" lon="0" rev="8700000"/>
          </a:lightRig>
        </a:scene3d>
        <a:sp3d prstMaterial="matte">
          <a:bevelT w="25400" h="53975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Edit</a:t>
          </a:r>
          <a:endParaRPr lang="en-US" sz="1900" kern="1200" dirty="0"/>
        </a:p>
      </dsp:txBody>
      <dsp:txXfrm>
        <a:off x="1093" y="760368"/>
        <a:ext cx="1374706" cy="547200"/>
      </dsp:txXfrm>
    </dsp:sp>
    <dsp:sp modelId="{EE24CBD2-B6BB-3647-AB34-AE67EB3082B9}">
      <dsp:nvSpPr>
        <dsp:cNvPr id="0" name=""/>
        <dsp:cNvSpPr/>
      </dsp:nvSpPr>
      <dsp:spPr>
        <a:xfrm>
          <a:off x="282660" y="1307568"/>
          <a:ext cx="1374706" cy="1470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 smtClean="0"/>
            <a:t>eclipse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 err="1" smtClean="0"/>
            <a:t>kwrite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 smtClean="0"/>
            <a:t>vim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 err="1" smtClean="0"/>
            <a:t>emacs</a:t>
          </a:r>
          <a:endParaRPr lang="en-US" sz="1900" kern="1200" dirty="0"/>
        </a:p>
      </dsp:txBody>
      <dsp:txXfrm>
        <a:off x="322924" y="1347832"/>
        <a:ext cx="1294178" cy="1390072"/>
      </dsp:txXfrm>
    </dsp:sp>
    <dsp:sp modelId="{7CBDDB3C-A751-7443-BC39-972CDC0D18A0}">
      <dsp:nvSpPr>
        <dsp:cNvPr id="0" name=""/>
        <dsp:cNvSpPr/>
      </dsp:nvSpPr>
      <dsp:spPr>
        <a:xfrm>
          <a:off x="1584201" y="862837"/>
          <a:ext cx="441809" cy="342262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satMod val="130000"/>
                <a:lumMod val="114000"/>
              </a:schemeClr>
            </a:gs>
            <a:gs pos="6000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atMod val="106000"/>
                <a:lumMod val="11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</a:schemeClr>
            </a:gs>
          </a:gsLst>
          <a:lin ang="5400000" scaled="0"/>
        </a:gradFill>
        <a:ln>
          <a:noFill/>
        </a:ln>
        <a:effectLst>
          <a:outerShdw blurRad="47625" dist="38100" dir="5400000" sy="98000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woPt" dir="br">
            <a:rot lat="0" lon="0" rev="8700000"/>
          </a:lightRig>
        </a:scene3d>
        <a:sp3d prstMaterial="matte">
          <a:bevelT w="25400" h="53975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*.c</a:t>
          </a:r>
          <a:endParaRPr lang="en-US" sz="1200" kern="1200" dirty="0"/>
        </a:p>
      </dsp:txBody>
      <dsp:txXfrm>
        <a:off x="1584201" y="931289"/>
        <a:ext cx="339130" cy="205358"/>
      </dsp:txXfrm>
    </dsp:sp>
    <dsp:sp modelId="{7D838EBD-BC01-9648-8B26-194A4A736070}">
      <dsp:nvSpPr>
        <dsp:cNvPr id="0" name=""/>
        <dsp:cNvSpPr/>
      </dsp:nvSpPr>
      <dsp:spPr>
        <a:xfrm>
          <a:off x="2209402" y="760368"/>
          <a:ext cx="1374706" cy="8208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30000"/>
                <a:lumMod val="114000"/>
              </a:schemeClr>
            </a:gs>
            <a:gs pos="60000">
              <a:schemeClr val="accent1">
                <a:hueOff val="0"/>
                <a:satOff val="0"/>
                <a:lumOff val="0"/>
                <a:alphaOff val="0"/>
                <a:tint val="100000"/>
                <a:satMod val="106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</a:schemeClr>
            </a:gs>
          </a:gsLst>
          <a:lin ang="5400000" scaled="0"/>
        </a:gradFill>
        <a:ln>
          <a:noFill/>
        </a:ln>
        <a:effectLst>
          <a:outerShdw blurRad="47625" dist="38100" dir="5400000" sy="98000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woPt" dir="br">
            <a:rot lat="0" lon="0" rev="8700000"/>
          </a:lightRig>
        </a:scene3d>
        <a:sp3d prstMaterial="matte">
          <a:bevelT w="25400" h="53975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Compile</a:t>
          </a:r>
          <a:endParaRPr lang="en-US" sz="1900" kern="1200" dirty="0"/>
        </a:p>
      </dsp:txBody>
      <dsp:txXfrm>
        <a:off x="2209402" y="760368"/>
        <a:ext cx="1374706" cy="547200"/>
      </dsp:txXfrm>
    </dsp:sp>
    <dsp:sp modelId="{E0DF3329-844F-B64F-82F8-1FE1115812BC}">
      <dsp:nvSpPr>
        <dsp:cNvPr id="0" name=""/>
        <dsp:cNvSpPr/>
      </dsp:nvSpPr>
      <dsp:spPr>
        <a:xfrm>
          <a:off x="2490969" y="1307568"/>
          <a:ext cx="1374706" cy="1470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 err="1" smtClean="0"/>
            <a:t>gcc</a:t>
          </a:r>
          <a:endParaRPr lang="en-US" sz="1900" kern="1200" dirty="0"/>
        </a:p>
      </dsp:txBody>
      <dsp:txXfrm>
        <a:off x="2531233" y="1347832"/>
        <a:ext cx="1294178" cy="1390072"/>
      </dsp:txXfrm>
    </dsp:sp>
    <dsp:sp modelId="{A2421DC8-4C9D-464B-9F73-D38F2A1D0D4E}">
      <dsp:nvSpPr>
        <dsp:cNvPr id="0" name=""/>
        <dsp:cNvSpPr/>
      </dsp:nvSpPr>
      <dsp:spPr>
        <a:xfrm>
          <a:off x="3792510" y="862837"/>
          <a:ext cx="441809" cy="342262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satMod val="130000"/>
                <a:lumMod val="114000"/>
              </a:schemeClr>
            </a:gs>
            <a:gs pos="6000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atMod val="106000"/>
                <a:lumMod val="11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</a:schemeClr>
            </a:gs>
          </a:gsLst>
          <a:lin ang="5400000" scaled="0"/>
        </a:gradFill>
        <a:ln>
          <a:noFill/>
        </a:ln>
        <a:effectLst>
          <a:outerShdw blurRad="47625" dist="38100" dir="5400000" sy="98000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woPt" dir="br">
            <a:rot lat="0" lon="0" rev="8700000"/>
          </a:lightRig>
        </a:scene3d>
        <a:sp3d prstMaterial="matte">
          <a:bevelT w="25400" h="53975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*.o</a:t>
          </a:r>
          <a:endParaRPr lang="en-US" sz="1200" kern="1200" dirty="0"/>
        </a:p>
      </dsp:txBody>
      <dsp:txXfrm>
        <a:off x="3792510" y="931289"/>
        <a:ext cx="339130" cy="205358"/>
      </dsp:txXfrm>
    </dsp:sp>
    <dsp:sp modelId="{0119A2CD-C4EF-C046-9B7A-CCE76A01246B}">
      <dsp:nvSpPr>
        <dsp:cNvPr id="0" name=""/>
        <dsp:cNvSpPr/>
      </dsp:nvSpPr>
      <dsp:spPr>
        <a:xfrm>
          <a:off x="4417711" y="760368"/>
          <a:ext cx="1374706" cy="8208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30000"/>
                <a:lumMod val="114000"/>
              </a:schemeClr>
            </a:gs>
            <a:gs pos="60000">
              <a:schemeClr val="accent1">
                <a:hueOff val="0"/>
                <a:satOff val="0"/>
                <a:lumOff val="0"/>
                <a:alphaOff val="0"/>
                <a:tint val="100000"/>
                <a:satMod val="106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</a:schemeClr>
            </a:gs>
          </a:gsLst>
          <a:lin ang="5400000" scaled="0"/>
        </a:gradFill>
        <a:ln>
          <a:noFill/>
        </a:ln>
        <a:effectLst>
          <a:outerShdw blurRad="47625" dist="38100" dir="5400000" sy="98000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woPt" dir="br">
            <a:rot lat="0" lon="0" rev="8700000"/>
          </a:lightRig>
        </a:scene3d>
        <a:sp3d prstMaterial="matte">
          <a:bevelT w="25400" h="53975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Link</a:t>
          </a:r>
          <a:endParaRPr lang="en-US" sz="1900" kern="1200" dirty="0"/>
        </a:p>
      </dsp:txBody>
      <dsp:txXfrm>
        <a:off x="4417711" y="760368"/>
        <a:ext cx="1374706" cy="547200"/>
      </dsp:txXfrm>
    </dsp:sp>
    <dsp:sp modelId="{8DD49C97-AAF5-0A4E-B462-EFDC89D3AFD3}">
      <dsp:nvSpPr>
        <dsp:cNvPr id="0" name=""/>
        <dsp:cNvSpPr/>
      </dsp:nvSpPr>
      <dsp:spPr>
        <a:xfrm>
          <a:off x="4699278" y="1307568"/>
          <a:ext cx="1374706" cy="1470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 err="1" smtClean="0"/>
            <a:t>gcc</a:t>
          </a:r>
          <a:endParaRPr lang="en-US" sz="1900" kern="1200" dirty="0"/>
        </a:p>
      </dsp:txBody>
      <dsp:txXfrm>
        <a:off x="4739542" y="1347832"/>
        <a:ext cx="1294178" cy="1390072"/>
      </dsp:txXfrm>
    </dsp:sp>
    <dsp:sp modelId="{E2F96D9F-AB08-E640-B977-50BFE3008110}">
      <dsp:nvSpPr>
        <dsp:cNvPr id="0" name=""/>
        <dsp:cNvSpPr/>
      </dsp:nvSpPr>
      <dsp:spPr>
        <a:xfrm>
          <a:off x="6000819" y="862837"/>
          <a:ext cx="441809" cy="342262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satMod val="130000"/>
                <a:lumMod val="114000"/>
              </a:schemeClr>
            </a:gs>
            <a:gs pos="6000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atMod val="106000"/>
                <a:lumMod val="11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</a:schemeClr>
            </a:gs>
          </a:gsLst>
          <a:lin ang="5400000" scaled="0"/>
        </a:gradFill>
        <a:ln>
          <a:noFill/>
        </a:ln>
        <a:effectLst>
          <a:outerShdw blurRad="47625" dist="38100" dir="5400000" sy="98000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woPt" dir="br">
            <a:rot lat="0" lon="0" rev="8700000"/>
          </a:lightRig>
        </a:scene3d>
        <a:sp3d prstMaterial="matte">
          <a:bevelT w="25400" h="53975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err="1" smtClean="0"/>
            <a:t>a.out</a:t>
          </a:r>
          <a:endParaRPr lang="en-US" sz="1200" kern="1200" dirty="0"/>
        </a:p>
      </dsp:txBody>
      <dsp:txXfrm>
        <a:off x="6000819" y="931289"/>
        <a:ext cx="339130" cy="205358"/>
      </dsp:txXfrm>
    </dsp:sp>
    <dsp:sp modelId="{2A79F767-1CEB-A944-9536-C44CCA90632D}">
      <dsp:nvSpPr>
        <dsp:cNvPr id="0" name=""/>
        <dsp:cNvSpPr/>
      </dsp:nvSpPr>
      <dsp:spPr>
        <a:xfrm>
          <a:off x="6626020" y="760368"/>
          <a:ext cx="1374706" cy="8208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30000"/>
                <a:lumMod val="114000"/>
              </a:schemeClr>
            </a:gs>
            <a:gs pos="60000">
              <a:schemeClr val="accent1">
                <a:hueOff val="0"/>
                <a:satOff val="0"/>
                <a:lumOff val="0"/>
                <a:alphaOff val="0"/>
                <a:tint val="100000"/>
                <a:satMod val="106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</a:schemeClr>
            </a:gs>
          </a:gsLst>
          <a:lin ang="5400000" scaled="0"/>
        </a:gradFill>
        <a:ln>
          <a:noFill/>
        </a:ln>
        <a:effectLst>
          <a:outerShdw blurRad="47625" dist="38100" dir="5400000" sy="98000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woPt" dir="br">
            <a:rot lat="0" lon="0" rev="8700000"/>
          </a:lightRig>
        </a:scene3d>
        <a:sp3d prstMaterial="matte">
          <a:bevelT w="25400" h="53975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Execute</a:t>
          </a:r>
          <a:endParaRPr lang="en-US" sz="1900" kern="1200" dirty="0"/>
        </a:p>
      </dsp:txBody>
      <dsp:txXfrm>
        <a:off x="6626020" y="760368"/>
        <a:ext cx="1374706" cy="547200"/>
      </dsp:txXfrm>
    </dsp:sp>
    <dsp:sp modelId="{6DB9280B-D514-B548-833D-EBED3FF69866}">
      <dsp:nvSpPr>
        <dsp:cNvPr id="0" name=""/>
        <dsp:cNvSpPr/>
      </dsp:nvSpPr>
      <dsp:spPr>
        <a:xfrm>
          <a:off x="6907587" y="1307568"/>
          <a:ext cx="1374706" cy="1470600"/>
        </a:xfrm>
        <a:prstGeom prst="roundRect">
          <a:avLst>
            <a:gd name="adj" fmla="val 1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516624"/>
            <a:ext cx="7315200" cy="2595025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5166530"/>
            <a:ext cx="7315200" cy="1144632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CC4A-E03B-6448-9C99-B55A5820C7B7}" type="datetimeFigureOut">
              <a:rPr lang="en-US" smtClean="0"/>
              <a:t>12/7/17</a:t>
            </a:fld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2A03042-1589-E84D-9700-3EA6B71D40B6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CC4A-E03B-6448-9C99-B55A5820C7B7}" type="datetimeFigureOut">
              <a:rPr lang="en-US" smtClean="0"/>
              <a:t>12/7/17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A03042-1589-E84D-9700-3EA6B71D40B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17572"/>
            <a:ext cx="7315200" cy="1293592"/>
          </a:xfrm>
        </p:spPr>
        <p:txBody>
          <a:bodyPr anchor="t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3865097"/>
            <a:ext cx="7315200" cy="109843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CC4A-E03B-6448-9C99-B55A5820C7B7}" type="datetimeFigureOut">
              <a:rPr lang="en-US" smtClean="0"/>
              <a:t>12/7/17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A03042-1589-E84D-9700-3EA6B71D40B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CC4A-E03B-6448-9C99-B55A5820C7B7}" type="datetimeFigureOut">
              <a:rPr lang="en-US" smtClean="0"/>
              <a:t>12/7/17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A03042-1589-E84D-9700-3EA6B71D40B6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914400" y="1544715"/>
            <a:ext cx="7315200" cy="115409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914400" y="2743200"/>
            <a:ext cx="3566160" cy="359359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81728" y="2743200"/>
            <a:ext cx="3566160" cy="359568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6348" y="2743200"/>
            <a:ext cx="3364992" cy="621792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5144" y="2743200"/>
            <a:ext cx="3362062" cy="621792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CC4A-E03B-6448-9C99-B55A5820C7B7}" type="datetimeFigureOut">
              <a:rPr lang="en-US" smtClean="0"/>
              <a:t>12/7/17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A03042-1589-E84D-9700-3EA6B71D40B6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914400" y="1544715"/>
            <a:ext cx="7315200" cy="115409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914400" y="3383280"/>
            <a:ext cx="3566160" cy="295351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4681727" y="3383280"/>
            <a:ext cx="3566160" cy="295351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CC4A-E03B-6448-9C99-B55A5820C7B7}" type="datetimeFigureOut">
              <a:rPr lang="en-US" smtClean="0"/>
              <a:t>12/7/17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A03042-1589-E84D-9700-3EA6B71D40B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CC4A-E03B-6448-9C99-B55A5820C7B7}" type="datetimeFigureOut">
              <a:rPr lang="en-US" smtClean="0"/>
              <a:t>12/7/17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A03042-1589-E84D-9700-3EA6B71D40B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825362"/>
            <a:ext cx="2950936" cy="2173015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1752" y="1826709"/>
            <a:ext cx="4207848" cy="4476614"/>
          </a:xfrm>
        </p:spPr>
        <p:txBody>
          <a:bodyPr anchor="ctr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4061095"/>
            <a:ext cx="2950936" cy="22453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CC4A-E03B-6448-9C99-B55A5820C7B7}" type="datetimeFigureOut">
              <a:rPr lang="en-US" smtClean="0"/>
              <a:t>12/7/17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A03042-1589-E84D-9700-3EA6B71D40B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828800"/>
            <a:ext cx="2953512" cy="2176272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1000" y="2286000"/>
            <a:ext cx="4038600" cy="3352800"/>
          </a:xfrm>
          <a:solidFill>
            <a:schemeClr val="accent2"/>
          </a:solidFill>
          <a:ln w="12700">
            <a:noFill/>
          </a:ln>
          <a:effectLst>
            <a:reflection blurRad="12700" stA="30000" endPos="30000" dist="31750" dir="5400000" sy="-100000" algn="bl" rotWithShape="0"/>
          </a:effectLst>
          <a:scene3d>
            <a:camera prst="perspectiveRight" fov="2700000">
              <a:rot lat="240000" lon="900000" rev="0"/>
            </a:camera>
            <a:lightRig rig="threePt" dir="t">
              <a:rot lat="0" lon="0" rev="2700000"/>
            </a:lightRig>
          </a:scene3d>
          <a:sp3d/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4059936"/>
            <a:ext cx="2953512" cy="224942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CC4A-E03B-6448-9C99-B55A5820C7B7}" type="datetimeFigureOut">
              <a:rPr lang="en-US" smtClean="0"/>
              <a:t>12/7/17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A03042-1589-E84D-9700-3EA6B71D40B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CC4A-E03B-6448-9C99-B55A5820C7B7}" type="datetimeFigureOut">
              <a:rPr lang="en-US" smtClean="0"/>
              <a:t>12/7/17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A03042-1589-E84D-9700-3EA6B71D40B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48400" y="1826709"/>
            <a:ext cx="1492499" cy="448445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4524" y="1826709"/>
            <a:ext cx="5241476" cy="448445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CC4A-E03B-6448-9C99-B55A5820C7B7}" type="datetimeFigureOut">
              <a:rPr lang="en-US" smtClean="0"/>
              <a:t>12/7/17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A03042-1589-E84D-9700-3EA6B71D40B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8435268" y="573807"/>
            <a:ext cx="86236" cy="5723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569419" y="573807"/>
            <a:ext cx="576072" cy="5723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4400" y="1544715"/>
            <a:ext cx="7315200" cy="11540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2769833"/>
            <a:ext cx="7315200" cy="35395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07690" y="548797"/>
            <a:ext cx="1189132" cy="2979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9BCDCC4A-E03B-6448-9C99-B55A5820C7B7}" type="datetimeFigureOut">
              <a:rPr lang="en-US" smtClean="0"/>
              <a:t>12/7/17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314415" y="548797"/>
            <a:ext cx="941203" cy="3017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D2A03042-1589-E84D-9700-3EA6B71D40B6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08688" y="855956"/>
            <a:ext cx="2246489" cy="301227"/>
          </a:xfrm>
          <a:prstGeom prst="rect">
            <a:avLst/>
          </a:prstGeom>
        </p:spPr>
        <p:txBody>
          <a:bodyPr vert="horz" lIns="91440" tIns="0" rIns="91440" bIns="45720" rtlCol="0" anchor="t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tif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CS253L01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Jim Conrad, PhD</a:t>
            </a:r>
          </a:p>
          <a:p>
            <a:r>
              <a:rPr lang="en-US" dirty="0" smtClean="0"/>
              <a:t>Boise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26975104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One-Minute Course in C Programming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For Java Programmers</a:t>
            </a:r>
            <a:r>
              <a:rPr lang="mr-IN" dirty="0" smtClean="0"/>
              <a:t>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88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Study C?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Many major projects are written mostly in C</a:t>
            </a:r>
          </a:p>
          <a:p>
            <a:pPr lvl="1"/>
            <a:r>
              <a:rPr lang="en-US" dirty="0" smtClean="0"/>
              <a:t>Linux kernel</a:t>
            </a:r>
          </a:p>
          <a:p>
            <a:pPr lvl="1"/>
            <a:r>
              <a:rPr lang="en-US" dirty="0" smtClean="0"/>
              <a:t>MS/Windows kernel</a:t>
            </a:r>
          </a:p>
          <a:p>
            <a:pPr lvl="1"/>
            <a:r>
              <a:rPr lang="en-US" dirty="0" smtClean="0"/>
              <a:t>FreeBSD (OS X kernel)</a:t>
            </a:r>
          </a:p>
          <a:p>
            <a:pPr lvl="1"/>
            <a:r>
              <a:rPr lang="en-US" dirty="0" smtClean="0"/>
              <a:t>iOS kernel</a:t>
            </a:r>
          </a:p>
          <a:p>
            <a:pPr lvl="1"/>
            <a:r>
              <a:rPr lang="en-US" dirty="0" smtClean="0"/>
              <a:t>Android kernel</a:t>
            </a:r>
          </a:p>
          <a:p>
            <a:pPr lvl="1"/>
            <a:r>
              <a:rPr lang="en-US" dirty="0" smtClean="0"/>
              <a:t>Oracle database</a:t>
            </a:r>
          </a:p>
          <a:p>
            <a:pPr lvl="1"/>
            <a:r>
              <a:rPr lang="en-US" dirty="0" smtClean="0"/>
              <a:t>MySQL database</a:t>
            </a:r>
          </a:p>
          <a:p>
            <a:pPr lvl="1"/>
            <a:r>
              <a:rPr lang="en-US" dirty="0" smtClean="0"/>
              <a:t>Apache web server</a:t>
            </a:r>
          </a:p>
          <a:p>
            <a:r>
              <a:rPr lang="en-US" dirty="0" smtClean="0"/>
              <a:t>Embedded Systems (Internet of Things)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911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If C is so Great and Important, Why Isn’t Everything Written in C?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535577" y="2743200"/>
            <a:ext cx="3944983" cy="3593592"/>
          </a:xfrm>
        </p:spPr>
        <p:txBody>
          <a:bodyPr/>
          <a:lstStyle/>
          <a:p>
            <a:pPr algn="just"/>
            <a:r>
              <a:rPr lang="en-US" dirty="0" smtClean="0"/>
              <a:t>“Where there is great power there is great responsibility.” </a:t>
            </a:r>
            <a:br>
              <a:rPr lang="en-US" dirty="0" smtClean="0"/>
            </a:b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quarter" idx="14"/>
          </p:nvPr>
        </p:nvPicPr>
        <p:blipFill>
          <a:blip r:embed="rId2"/>
          <a:stretch>
            <a:fillRect/>
          </a:stretch>
        </p:blipFill>
        <p:spPr>
          <a:xfrm>
            <a:off x="4955858" y="3892439"/>
            <a:ext cx="3567112" cy="22116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86597" y="6104048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-- Marvel, 1962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1577201" y="3435531"/>
            <a:ext cx="2903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 -- Winston Churchill, 1906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760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 smtClean="0"/>
              <a:t>C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n-US" dirty="0" smtClean="0"/>
              <a:t>Java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C and Java:</a:t>
            </a:r>
            <a:br>
              <a:rPr lang="en-US" dirty="0" smtClean="0"/>
            </a:br>
            <a:r>
              <a:rPr lang="en-US" dirty="0" smtClean="0"/>
              <a:t>The Fundamental Differences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548641" y="3383280"/>
            <a:ext cx="3931920" cy="2953512"/>
          </a:xfrm>
        </p:spPr>
        <p:txBody>
          <a:bodyPr/>
          <a:lstStyle/>
          <a:p>
            <a:r>
              <a:rPr lang="en-US" dirty="0" smtClean="0"/>
              <a:t>ANSI Standardized Language</a:t>
            </a:r>
          </a:p>
          <a:p>
            <a:r>
              <a:rPr lang="en-US" dirty="0" smtClean="0"/>
              <a:t>Source files named, *.c and *.h</a:t>
            </a:r>
          </a:p>
          <a:p>
            <a:r>
              <a:rPr lang="en-US" dirty="0" smtClean="0"/>
              <a:t>Object files named, *.o</a:t>
            </a:r>
          </a:p>
          <a:p>
            <a:r>
              <a:rPr lang="en-US" dirty="0" smtClean="0"/>
              <a:t>Compiles to machine language</a:t>
            </a:r>
          </a:p>
          <a:p>
            <a:r>
              <a:rPr lang="en-US" dirty="0" smtClean="0"/>
              <a:t>Can be hosted on “bare metal”</a:t>
            </a:r>
          </a:p>
          <a:p>
            <a:r>
              <a:rPr lang="en-US" dirty="0" smtClean="0"/>
              <a:t>Procedural (no objects)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4"/>
          </p:nvPr>
        </p:nvSpPr>
        <p:spPr>
          <a:xfrm>
            <a:off x="4681727" y="3383280"/>
            <a:ext cx="3926696" cy="2953512"/>
          </a:xfrm>
        </p:spPr>
        <p:txBody>
          <a:bodyPr/>
          <a:lstStyle/>
          <a:p>
            <a:r>
              <a:rPr lang="en-US" dirty="0" smtClean="0"/>
              <a:t>Language defined by Oracle</a:t>
            </a:r>
          </a:p>
          <a:p>
            <a:r>
              <a:rPr lang="en-US" dirty="0" smtClean="0"/>
              <a:t>Source files named, *.java</a:t>
            </a:r>
          </a:p>
          <a:p>
            <a:r>
              <a:rPr lang="en-US" dirty="0" smtClean="0"/>
              <a:t>Object files named, *.class</a:t>
            </a:r>
          </a:p>
          <a:p>
            <a:r>
              <a:rPr lang="en-US" dirty="0" smtClean="0"/>
              <a:t>Compiles to bytecode</a:t>
            </a:r>
          </a:p>
          <a:p>
            <a:r>
              <a:rPr lang="en-US" dirty="0" smtClean="0"/>
              <a:t>Always hosted by the JRE</a:t>
            </a:r>
          </a:p>
          <a:p>
            <a:r>
              <a:rPr lang="en-US" dirty="0" smtClean="0"/>
              <a:t>Mostly object-oriented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21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 and Java:  Similarities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Code blocks:  {</a:t>
            </a:r>
            <a:r>
              <a:rPr lang="mr-IN" dirty="0" smtClean="0"/>
              <a:t>…</a:t>
            </a:r>
            <a:r>
              <a:rPr lang="en-US" dirty="0" smtClean="0"/>
              <a:t>}</a:t>
            </a:r>
          </a:p>
          <a:p>
            <a:r>
              <a:rPr lang="en-US" dirty="0" smtClean="0"/>
              <a:t>Statements terminated by semicolons (;)</a:t>
            </a:r>
          </a:p>
          <a:p>
            <a:r>
              <a:rPr lang="en-US" dirty="0" smtClean="0"/>
              <a:t>Decision structures:  if, else, else if, switch, case</a:t>
            </a:r>
          </a:p>
          <a:p>
            <a:r>
              <a:rPr lang="en-US" dirty="0" smtClean="0"/>
              <a:t>Looping structures:  while, for, do</a:t>
            </a:r>
          </a:p>
          <a:p>
            <a:r>
              <a:rPr lang="en-US" dirty="0" smtClean="0"/>
              <a:t>Some primitive types:  short, </a:t>
            </a:r>
            <a:r>
              <a:rPr lang="en-US" dirty="0" err="1" smtClean="0"/>
              <a:t>int</a:t>
            </a:r>
            <a:r>
              <a:rPr lang="en-US" dirty="0" smtClean="0"/>
              <a:t>, long, float, double, char</a:t>
            </a:r>
          </a:p>
          <a:p>
            <a:r>
              <a:rPr lang="en-US" dirty="0" smtClean="0"/>
              <a:t>Many operators:  = += -= + - * / ++ -- == &lt;= &gt;= != &amp;&amp; || ? </a:t>
            </a:r>
            <a:r>
              <a:rPr lang="en-US" dirty="0" err="1" smtClean="0"/>
              <a:t>etc</a:t>
            </a:r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525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helloworld.c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3"/>
          </p:nvPr>
        </p:nvSpPr>
        <p:spPr>
          <a:xfrm>
            <a:off x="548640" y="2743200"/>
            <a:ext cx="3931920" cy="3593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#include &lt;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stdio.h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&gt;</a:t>
            </a:r>
          </a:p>
          <a:p>
            <a:pPr marL="45720" indent="0">
              <a:buNone/>
            </a:pP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main() {</a:t>
            </a:r>
          </a:p>
          <a:p>
            <a:pPr marL="45720" indent="0">
              <a:buNone/>
            </a:pP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 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printf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(“Hello world!\n”);</a:t>
            </a: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}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681727" y="2743200"/>
            <a:ext cx="3926695" cy="3595687"/>
          </a:xfrm>
        </p:spPr>
        <p:txBody>
          <a:bodyPr>
            <a:normAutofit/>
          </a:bodyPr>
          <a:lstStyle/>
          <a:p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#include</a:t>
            </a:r>
            <a:r>
              <a:rPr lang="en-US" dirty="0" smtClean="0"/>
              <a:t> imports definitions </a:t>
            </a:r>
            <a:r>
              <a:rPr lang="en-US" dirty="0" smtClean="0"/>
              <a:t>from </a:t>
            </a:r>
            <a:r>
              <a:rPr lang="en-US" dirty="0" smtClean="0"/>
              <a:t>akin to java’s </a:t>
            </a:r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import</a:t>
            </a:r>
            <a:endParaRPr lang="en-US" dirty="0" smtClean="0">
              <a:ea typeface="Courier" charset="0"/>
              <a:cs typeface="Courier" charset="0"/>
            </a:endParaRPr>
          </a:p>
          <a:p>
            <a:r>
              <a:rPr lang="en-US" dirty="0" smtClean="0">
                <a:ea typeface="Courier" charset="0"/>
                <a:cs typeface="Courier" charset="0"/>
              </a:rPr>
              <a:t>No classes in C.  </a:t>
            </a:r>
            <a:r>
              <a:rPr lang="en-US" dirty="0" smtClean="0">
                <a:ea typeface="Courier" charset="0"/>
                <a:cs typeface="Courier" charset="0"/>
              </a:rPr>
              <a:t>Functions</a:t>
            </a:r>
            <a:r>
              <a:rPr lang="en-US" dirty="0" smtClean="0">
                <a:ea typeface="Courier" charset="0"/>
                <a:cs typeface="Courier" charset="0"/>
              </a:rPr>
              <a:t> </a:t>
            </a:r>
            <a:r>
              <a:rPr lang="en-US" dirty="0" smtClean="0">
                <a:ea typeface="Courier" charset="0"/>
                <a:cs typeface="Courier" charset="0"/>
              </a:rPr>
              <a:t>are </a:t>
            </a:r>
            <a:r>
              <a:rPr lang="en-US" dirty="0" smtClean="0">
                <a:ea typeface="Courier" charset="0"/>
                <a:cs typeface="Courier" charset="0"/>
              </a:rPr>
              <a:t>akin to java static methods</a:t>
            </a:r>
            <a:endParaRPr lang="en-US" dirty="0" smtClean="0">
              <a:ea typeface="Courier" charset="0"/>
              <a:cs typeface="Courier" charset="0"/>
            </a:endParaRPr>
          </a:p>
          <a:p>
            <a:r>
              <a:rPr lang="en-US" dirty="0" smtClean="0">
                <a:ea typeface="Courier" charset="0"/>
                <a:cs typeface="Courier" charset="0"/>
              </a:rPr>
              <a:t>C doesn’t require the details for main() if </a:t>
            </a:r>
            <a:r>
              <a:rPr lang="en-US" dirty="0" smtClean="0">
                <a:ea typeface="Courier" charset="0"/>
                <a:cs typeface="Courier" charset="0"/>
              </a:rPr>
              <a:t>your code doesn’t depend </a:t>
            </a:r>
            <a:r>
              <a:rPr lang="en-US" dirty="0" smtClean="0">
                <a:ea typeface="Courier" charset="0"/>
                <a:cs typeface="Courier" charset="0"/>
              </a:rPr>
              <a:t>upon them.</a:t>
            </a:r>
          </a:p>
          <a:p>
            <a:r>
              <a:rPr lang="en-US" dirty="0" err="1" smtClean="0">
                <a:ea typeface="Courier" charset="0"/>
                <a:cs typeface="Courier" charset="0"/>
              </a:rPr>
              <a:t>Stdio.h</a:t>
            </a:r>
            <a:r>
              <a:rPr lang="en-US" dirty="0" smtClean="0">
                <a:ea typeface="Courier" charset="0"/>
                <a:cs typeface="Courier" charset="0"/>
              </a:rPr>
              <a:t> defines </a:t>
            </a:r>
            <a:r>
              <a:rPr lang="en-US" dirty="0" err="1" smtClean="0">
                <a:ea typeface="Courier" charset="0"/>
                <a:cs typeface="Courier" charset="0"/>
              </a:rPr>
              <a:t>printf</a:t>
            </a:r>
            <a:r>
              <a:rPr lang="en-US" dirty="0">
                <a:ea typeface="Courier" charset="0"/>
                <a:cs typeface="Courier" charset="0"/>
              </a:rPr>
              <a:t> </a:t>
            </a:r>
            <a:r>
              <a:rPr lang="en-US" dirty="0" smtClean="0">
                <a:ea typeface="Courier" charset="0"/>
                <a:cs typeface="Courier" charset="0"/>
              </a:rPr>
              <a:t>that, in this example, works akin to  </a:t>
            </a:r>
            <a:r>
              <a:rPr lang="en-US" dirty="0" err="1" smtClean="0">
                <a:latin typeface="Courier" charset="0"/>
                <a:ea typeface="Courier" charset="0"/>
                <a:cs typeface="Courier" charset="0"/>
              </a:rPr>
              <a:t>System.out.print</a:t>
            </a:r>
            <a:endParaRPr lang="en-US" dirty="0">
              <a:latin typeface="Courier" charset="0"/>
              <a:ea typeface="Courier" charset="0"/>
              <a:cs typeface="Couri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532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Programming Language Terminology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Scope:  Refers to the visibility of an identifier (e.g. a variable name) --- where it can be accessed.  E.g. in java, the scope of a local variable is that of the code block defining it.</a:t>
            </a:r>
          </a:p>
          <a:p>
            <a:r>
              <a:rPr lang="en-US" dirty="0" smtClean="0"/>
              <a:t>Storage class:  Refers to where and when a programming language allocates memory for something (e.g. a variable).  For example, in java, storage for a parameter is allocated on the stack when a method is invoked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520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Introduction </a:t>
            </a:r>
            <a:r>
              <a:rPr lang="en-US" dirty="0" smtClean="0"/>
              <a:t>to C Variables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3"/>
          </p:nvPr>
        </p:nvSpPr>
        <p:spPr>
          <a:xfrm>
            <a:off x="548640" y="2743200"/>
            <a:ext cx="3931920" cy="3593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int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sum(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int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x, 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int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y) {</a:t>
            </a: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 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 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int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z;</a:t>
            </a: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 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 z = x + y;</a:t>
            </a: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 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 return z;</a:t>
            </a: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}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681727" y="2743200"/>
            <a:ext cx="3926695" cy="3595687"/>
          </a:xfrm>
        </p:spPr>
        <p:txBody>
          <a:bodyPr/>
          <a:lstStyle/>
          <a:p>
            <a:r>
              <a:rPr lang="en-US" dirty="0" smtClean="0">
                <a:ea typeface="Courier" charset="0"/>
                <a:cs typeface="Courier" charset="0"/>
              </a:rPr>
              <a:t>Defines a function named </a:t>
            </a:r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sum</a:t>
            </a:r>
            <a:r>
              <a:rPr lang="en-US" dirty="0" smtClean="0">
                <a:ea typeface="Courier" charset="0"/>
                <a:cs typeface="Courier" charset="0"/>
              </a:rPr>
              <a:t> returning an </a:t>
            </a:r>
            <a:r>
              <a:rPr lang="en-US" dirty="0" err="1" smtClean="0">
                <a:latin typeface="Courier" charset="0"/>
                <a:ea typeface="Courier" charset="0"/>
                <a:cs typeface="Courier" charset="0"/>
              </a:rPr>
              <a:t>int</a:t>
            </a:r>
            <a:r>
              <a:rPr lang="en-US" dirty="0" smtClean="0">
                <a:ea typeface="Courier" charset="0"/>
                <a:cs typeface="Courier" charset="0"/>
              </a:rPr>
              <a:t> value</a:t>
            </a:r>
          </a:p>
          <a:p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sum</a:t>
            </a:r>
            <a:r>
              <a:rPr lang="en-US" dirty="0" smtClean="0">
                <a:ea typeface="Courier" charset="0"/>
                <a:cs typeface="Courier" charset="0"/>
              </a:rPr>
              <a:t> behaves akin to a </a:t>
            </a:r>
            <a:r>
              <a:rPr lang="en-US" i="1" dirty="0" smtClean="0">
                <a:ea typeface="Courier" charset="0"/>
                <a:cs typeface="Courier" charset="0"/>
              </a:rPr>
              <a:t>static method</a:t>
            </a:r>
            <a:r>
              <a:rPr lang="en-US" dirty="0" smtClean="0">
                <a:ea typeface="Courier" charset="0"/>
                <a:cs typeface="Courier" charset="0"/>
              </a:rPr>
              <a:t> in java </a:t>
            </a:r>
            <a:r>
              <a:rPr lang="mr-IN" dirty="0" smtClean="0">
                <a:ea typeface="Courier" charset="0"/>
                <a:cs typeface="Courier" charset="0"/>
              </a:rPr>
              <a:t>–</a:t>
            </a:r>
            <a:r>
              <a:rPr lang="en-US" dirty="0" smtClean="0">
                <a:ea typeface="Courier" charset="0"/>
                <a:cs typeface="Courier" charset="0"/>
              </a:rPr>
              <a:t> there exists one instance of </a:t>
            </a:r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sum</a:t>
            </a:r>
            <a:r>
              <a:rPr lang="en-US" dirty="0" smtClean="0">
                <a:ea typeface="Courier" charset="0"/>
                <a:cs typeface="Courier" charset="0"/>
              </a:rPr>
              <a:t> in the entire program</a:t>
            </a:r>
          </a:p>
          <a:p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x</a:t>
            </a:r>
            <a:r>
              <a:rPr lang="en-US" dirty="0" smtClean="0">
                <a:ea typeface="Courier" charset="0"/>
                <a:cs typeface="Courier" charset="0"/>
              </a:rPr>
              <a:t> and </a:t>
            </a:r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y</a:t>
            </a:r>
            <a:r>
              <a:rPr lang="en-US" dirty="0" smtClean="0">
                <a:ea typeface="Courier" charset="0"/>
                <a:cs typeface="Courier" charset="0"/>
              </a:rPr>
              <a:t> are </a:t>
            </a:r>
            <a:r>
              <a:rPr lang="en-US" dirty="0" err="1" smtClean="0">
                <a:latin typeface="Courier" charset="0"/>
                <a:ea typeface="Courier" charset="0"/>
                <a:cs typeface="Courier" charset="0"/>
              </a:rPr>
              <a:t>int</a:t>
            </a:r>
            <a:r>
              <a:rPr lang="en-US" dirty="0" smtClean="0">
                <a:ea typeface="Courier" charset="0"/>
                <a:cs typeface="Courier" charset="0"/>
              </a:rPr>
              <a:t> parameters</a:t>
            </a:r>
          </a:p>
          <a:p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z</a:t>
            </a:r>
            <a:r>
              <a:rPr lang="en-US" dirty="0" smtClean="0">
                <a:ea typeface="Courier" charset="0"/>
                <a:cs typeface="Courier" charset="0"/>
              </a:rPr>
              <a:t> is an </a:t>
            </a:r>
            <a:r>
              <a:rPr lang="en-US" i="1" dirty="0" smtClean="0">
                <a:ea typeface="Courier" charset="0"/>
                <a:cs typeface="Courier" charset="0"/>
              </a:rPr>
              <a:t>automatic</a:t>
            </a:r>
            <a:r>
              <a:rPr lang="en-US" dirty="0" smtClean="0">
                <a:ea typeface="Courier" charset="0"/>
                <a:cs typeface="Courier" charset="0"/>
              </a:rPr>
              <a:t> (local) </a:t>
            </a:r>
            <a:r>
              <a:rPr lang="en-US" i="1" dirty="0" smtClean="0">
                <a:ea typeface="Courier" charset="0"/>
                <a:cs typeface="Courier" charset="0"/>
              </a:rPr>
              <a:t>variable</a:t>
            </a:r>
            <a:endParaRPr lang="en-US" i="1" dirty="0">
              <a:ea typeface="Courier" charset="0"/>
              <a:cs typeface="Couri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99867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Automatic Variables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3"/>
          </p:nvPr>
        </p:nvSpPr>
        <p:spPr>
          <a:xfrm>
            <a:off x="548640" y="2743200"/>
            <a:ext cx="3931920" cy="3593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int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sum(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int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x, 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int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y) {</a:t>
            </a: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 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 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int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z;</a:t>
            </a: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 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 z = x + y;</a:t>
            </a: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 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 return z;</a:t>
            </a: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}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681727" y="2743200"/>
            <a:ext cx="3926695" cy="3595687"/>
          </a:xfrm>
        </p:spPr>
        <p:txBody>
          <a:bodyPr/>
          <a:lstStyle/>
          <a:p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z</a:t>
            </a:r>
            <a:r>
              <a:rPr lang="en-US" dirty="0" smtClean="0">
                <a:ea typeface="Courier" charset="0"/>
                <a:cs typeface="Courier" charset="0"/>
              </a:rPr>
              <a:t> is an </a:t>
            </a:r>
            <a:r>
              <a:rPr lang="en-US" i="1" dirty="0" smtClean="0">
                <a:ea typeface="Courier" charset="0"/>
                <a:cs typeface="Courier" charset="0"/>
              </a:rPr>
              <a:t>automatic</a:t>
            </a:r>
            <a:r>
              <a:rPr lang="en-US" dirty="0" smtClean="0">
                <a:ea typeface="Courier" charset="0"/>
                <a:cs typeface="Courier" charset="0"/>
              </a:rPr>
              <a:t> (local) </a:t>
            </a:r>
            <a:r>
              <a:rPr lang="en-US" i="1" dirty="0" smtClean="0">
                <a:ea typeface="Courier" charset="0"/>
                <a:cs typeface="Courier" charset="0"/>
              </a:rPr>
              <a:t>variable</a:t>
            </a:r>
          </a:p>
          <a:p>
            <a:r>
              <a:rPr lang="en-US" dirty="0" smtClean="0">
                <a:ea typeface="Courier" charset="0"/>
                <a:cs typeface="Courier" charset="0"/>
              </a:rPr>
              <a:t>Its scope is the compound statement (i.e. code block) in which it’s defined, here</a:t>
            </a:r>
            <a:r>
              <a:rPr lang="mr-IN" dirty="0" smtClean="0">
                <a:ea typeface="Courier" charset="0"/>
                <a:cs typeface="Courier" charset="0"/>
              </a:rPr>
              <a:t>…</a:t>
            </a:r>
            <a:r>
              <a:rPr lang="en-US" dirty="0" smtClean="0">
                <a:ea typeface="Courier" charset="0"/>
                <a:cs typeface="Courier" charset="0"/>
              </a:rPr>
              <a:t> everything between { and }</a:t>
            </a:r>
          </a:p>
          <a:p>
            <a:r>
              <a:rPr lang="en-US" dirty="0" smtClean="0">
                <a:ea typeface="Courier" charset="0"/>
                <a:cs typeface="Courier" charset="0"/>
              </a:rPr>
              <a:t>Storage for automatic variables is allocated when the function is invoked, and </a:t>
            </a:r>
            <a:r>
              <a:rPr lang="en-US" dirty="0" smtClean="0">
                <a:ea typeface="Courier" charset="0"/>
                <a:cs typeface="Courier" charset="0"/>
              </a:rPr>
              <a:t>freed when </a:t>
            </a:r>
            <a:r>
              <a:rPr lang="en-US" dirty="0" smtClean="0">
                <a:ea typeface="Courier" charset="0"/>
                <a:cs typeface="Courier" charset="0"/>
              </a:rPr>
              <a:t>the function returns</a:t>
            </a:r>
            <a:endParaRPr lang="en-US" dirty="0">
              <a:ea typeface="Courier" charset="0"/>
              <a:cs typeface="Couri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6873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91127"/>
            <a:ext cx="7315200" cy="1154097"/>
          </a:xfrm>
        </p:spPr>
        <p:txBody>
          <a:bodyPr/>
          <a:lstStyle/>
          <a:p>
            <a:r>
              <a:rPr lang="en-US" dirty="0" smtClean="0"/>
              <a:t>External Variables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3"/>
          </p:nvPr>
        </p:nvSpPr>
        <p:spPr>
          <a:xfrm>
            <a:off x="548640" y="2743200"/>
            <a:ext cx="3931920" cy="3593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int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x=0;</a:t>
            </a:r>
          </a:p>
          <a:p>
            <a:pPr marL="45720" indent="0">
              <a:buNone/>
            </a:pPr>
            <a:endParaRPr lang="en-US" sz="1800" dirty="0">
              <a:latin typeface="Courier" charset="0"/>
              <a:ea typeface="Courier" charset="0"/>
              <a:cs typeface="Courier" charset="0"/>
            </a:endParaRPr>
          </a:p>
          <a:p>
            <a:pPr marL="45720" indent="0">
              <a:buNone/>
            </a:pP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void 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incX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() {</a:t>
            </a:r>
          </a:p>
          <a:p>
            <a:pPr marL="45720" indent="0">
              <a:buNone/>
            </a:pP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	x++;</a:t>
            </a:r>
          </a:p>
          <a:p>
            <a:pPr marL="45720" indent="0">
              <a:buNone/>
            </a:pP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}</a:t>
            </a:r>
          </a:p>
          <a:p>
            <a:pPr marL="45720" indent="0">
              <a:buNone/>
            </a:pPr>
            <a:endParaRPr lang="en-US" sz="1800" dirty="0">
              <a:latin typeface="Courier" charset="0"/>
              <a:ea typeface="Courier" charset="0"/>
              <a:cs typeface="Courier" charset="0"/>
            </a:endParaRP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void 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decX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() </a:t>
            </a: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{</a:t>
            </a: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	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x--;</a:t>
            </a:r>
            <a:endParaRPr lang="en-US" sz="1800" dirty="0">
              <a:latin typeface="Courier" charset="0"/>
              <a:ea typeface="Courier" charset="0"/>
              <a:cs typeface="Courier" charset="0"/>
            </a:endParaRP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}</a:t>
            </a:r>
          </a:p>
          <a:p>
            <a:pPr marL="45720" indent="0">
              <a:buNone/>
            </a:pPr>
            <a:endParaRPr lang="en-US" sz="1800" dirty="0">
              <a:latin typeface="Courier" charset="0"/>
              <a:ea typeface="Courier" charset="0"/>
              <a:cs typeface="Courier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681727" y="2743200"/>
            <a:ext cx="3926695" cy="3595687"/>
          </a:xfrm>
        </p:spPr>
        <p:txBody>
          <a:bodyPr>
            <a:normAutofit fontScale="92500"/>
          </a:bodyPr>
          <a:lstStyle/>
          <a:p>
            <a:r>
              <a:rPr lang="en-US" dirty="0" smtClean="0">
                <a:ea typeface="Courier" charset="0"/>
                <a:cs typeface="Courier" charset="0"/>
              </a:rPr>
              <a:t>x is </a:t>
            </a:r>
            <a:r>
              <a:rPr lang="en-US" dirty="0" smtClean="0">
                <a:ea typeface="Courier" charset="0"/>
                <a:cs typeface="Courier" charset="0"/>
              </a:rPr>
              <a:t>defined external to all the functions in the file that defines it</a:t>
            </a:r>
            <a:endParaRPr lang="en-US" dirty="0" smtClean="0">
              <a:ea typeface="Courier" charset="0"/>
              <a:cs typeface="Courier" charset="0"/>
            </a:endParaRPr>
          </a:p>
          <a:p>
            <a:r>
              <a:rPr lang="en-US" dirty="0" smtClean="0">
                <a:ea typeface="Courier" charset="0"/>
                <a:cs typeface="Courier" charset="0"/>
              </a:rPr>
              <a:t>Its scope </a:t>
            </a:r>
            <a:r>
              <a:rPr lang="en-US" dirty="0" smtClean="0">
                <a:ea typeface="Courier" charset="0"/>
                <a:cs typeface="Courier" charset="0"/>
              </a:rPr>
              <a:t>extends throughout that file </a:t>
            </a:r>
            <a:r>
              <a:rPr lang="en-US" dirty="0" smtClean="0">
                <a:ea typeface="Courier" charset="0"/>
                <a:cs typeface="Courier" charset="0"/>
              </a:rPr>
              <a:t>and can be accessed </a:t>
            </a:r>
            <a:r>
              <a:rPr lang="en-US" dirty="0" smtClean="0">
                <a:ea typeface="Courier" charset="0"/>
                <a:cs typeface="Courier" charset="0"/>
              </a:rPr>
              <a:t>globally from other files</a:t>
            </a:r>
            <a:endParaRPr lang="en-US" dirty="0" smtClean="0">
              <a:ea typeface="Courier" charset="0"/>
              <a:cs typeface="Courier" charset="0"/>
            </a:endParaRPr>
          </a:p>
          <a:p>
            <a:r>
              <a:rPr lang="en-US" dirty="0" smtClean="0">
                <a:ea typeface="Courier" charset="0"/>
                <a:cs typeface="Courier" charset="0"/>
              </a:rPr>
              <a:t>Storage is allocated when the program starts (before main)</a:t>
            </a:r>
          </a:p>
          <a:p>
            <a:r>
              <a:rPr lang="en-US" dirty="0" smtClean="0">
                <a:ea typeface="Courier" charset="0"/>
                <a:cs typeface="Courier" charset="0"/>
              </a:rPr>
              <a:t>While it is akin to </a:t>
            </a:r>
            <a:r>
              <a:rPr lang="en-US" dirty="0" smtClean="0">
                <a:ea typeface="Courier" charset="0"/>
                <a:cs typeface="Courier" charset="0"/>
              </a:rPr>
              <a:t>a public </a:t>
            </a:r>
            <a:r>
              <a:rPr lang="en-US" dirty="0" smtClean="0">
                <a:ea typeface="Courier" charset="0"/>
                <a:cs typeface="Courier" charset="0"/>
              </a:rPr>
              <a:t>static variable in java</a:t>
            </a:r>
            <a:r>
              <a:rPr lang="mr-IN" dirty="0" smtClean="0">
                <a:ea typeface="Courier" charset="0"/>
                <a:cs typeface="Courier" charset="0"/>
              </a:rPr>
              <a:t>…</a:t>
            </a:r>
            <a:endParaRPr lang="en-US" dirty="0" smtClean="0">
              <a:ea typeface="Courier" charset="0"/>
              <a:cs typeface="Courier" charset="0"/>
            </a:endParaRPr>
          </a:p>
          <a:p>
            <a:r>
              <a:rPr lang="en-US" dirty="0" smtClean="0">
                <a:ea typeface="Courier" charset="0"/>
                <a:cs typeface="Courier" charset="0"/>
              </a:rPr>
              <a:t>The</a:t>
            </a:r>
            <a:r>
              <a:rPr lang="en-US" i="1" dirty="0" smtClean="0">
                <a:ea typeface="Courier" charset="0"/>
                <a:cs typeface="Courier" charset="0"/>
              </a:rPr>
              <a:t> static</a:t>
            </a:r>
            <a:r>
              <a:rPr lang="en-US" dirty="0" smtClean="0">
                <a:ea typeface="Courier" charset="0"/>
                <a:cs typeface="Courier" charset="0"/>
              </a:rPr>
              <a:t> keyword means something different </a:t>
            </a:r>
            <a:r>
              <a:rPr lang="en-US" dirty="0" smtClean="0">
                <a:ea typeface="Courier" charset="0"/>
                <a:cs typeface="Courier" charset="0"/>
              </a:rPr>
              <a:t>in C</a:t>
            </a:r>
            <a:endParaRPr lang="en-US" dirty="0">
              <a:ea typeface="Courier" charset="0"/>
              <a:cs typeface="Couri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77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91127"/>
            <a:ext cx="7315200" cy="1154097"/>
          </a:xfrm>
        </p:spPr>
        <p:txBody>
          <a:bodyPr>
            <a:normAutofit/>
          </a:bodyPr>
          <a:lstStyle/>
          <a:p>
            <a:r>
              <a:rPr lang="en-US" dirty="0" smtClean="0"/>
              <a:t>External Static </a:t>
            </a:r>
            <a:r>
              <a:rPr lang="en-US" dirty="0" smtClean="0"/>
              <a:t>Variables in </a:t>
            </a:r>
            <a:r>
              <a:rPr lang="en-US" dirty="0" smtClean="0"/>
              <a:t>C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3"/>
          </p:nvPr>
        </p:nvSpPr>
        <p:spPr>
          <a:xfrm>
            <a:off x="548640" y="2743200"/>
            <a:ext cx="3931920" cy="3593592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static 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int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 x=0;</a:t>
            </a:r>
          </a:p>
          <a:p>
            <a:pPr marL="45720" indent="0">
              <a:buNone/>
            </a:pPr>
            <a:endParaRPr lang="en-US" sz="1800" dirty="0">
              <a:latin typeface="Courier" charset="0"/>
              <a:ea typeface="Courier" charset="0"/>
              <a:cs typeface="Courier" charset="0"/>
            </a:endParaRPr>
          </a:p>
          <a:p>
            <a:pPr marL="45720" indent="0">
              <a:buNone/>
            </a:pP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void 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incX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() {</a:t>
            </a:r>
          </a:p>
          <a:p>
            <a:pPr marL="45720" indent="0">
              <a:buNone/>
            </a:pP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	x++;</a:t>
            </a:r>
          </a:p>
          <a:p>
            <a:pPr marL="45720" indent="0">
              <a:buNone/>
            </a:pP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}</a:t>
            </a:r>
          </a:p>
          <a:p>
            <a:pPr marL="45720" indent="0">
              <a:buNone/>
            </a:pPr>
            <a:endParaRPr lang="en-US" sz="1800" dirty="0">
              <a:latin typeface="Courier" charset="0"/>
              <a:ea typeface="Courier" charset="0"/>
              <a:cs typeface="Courier" charset="0"/>
            </a:endParaRP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void </a:t>
            </a:r>
            <a:r>
              <a:rPr lang="en-US" sz="1800" dirty="0" err="1" smtClean="0">
                <a:latin typeface="Courier" charset="0"/>
                <a:ea typeface="Courier" charset="0"/>
                <a:cs typeface="Courier" charset="0"/>
              </a:rPr>
              <a:t>decX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() </a:t>
            </a: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{</a:t>
            </a: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	</a:t>
            </a:r>
            <a:r>
              <a:rPr lang="en-US" sz="1800" dirty="0" smtClean="0">
                <a:latin typeface="Courier" charset="0"/>
                <a:ea typeface="Courier" charset="0"/>
                <a:cs typeface="Courier" charset="0"/>
              </a:rPr>
              <a:t>x--;</a:t>
            </a:r>
            <a:endParaRPr lang="en-US" sz="1800" dirty="0">
              <a:latin typeface="Courier" charset="0"/>
              <a:ea typeface="Courier" charset="0"/>
              <a:cs typeface="Courier" charset="0"/>
            </a:endParaRPr>
          </a:p>
          <a:p>
            <a:pPr marL="45720" indent="0">
              <a:buNone/>
            </a:pPr>
            <a:r>
              <a:rPr lang="en-US" sz="1800" dirty="0">
                <a:latin typeface="Courier" charset="0"/>
                <a:ea typeface="Courier" charset="0"/>
                <a:cs typeface="Courier" charset="0"/>
              </a:rPr>
              <a:t>}</a:t>
            </a:r>
          </a:p>
          <a:p>
            <a:pPr marL="45720" indent="0">
              <a:buNone/>
            </a:pPr>
            <a:endParaRPr lang="en-US" sz="1800" dirty="0">
              <a:latin typeface="Courier" charset="0"/>
              <a:ea typeface="Courier" charset="0"/>
              <a:cs typeface="Courier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681727" y="2743200"/>
            <a:ext cx="3926695" cy="3595687"/>
          </a:xfrm>
        </p:spPr>
        <p:txBody>
          <a:bodyPr>
            <a:normAutofit fontScale="85000" lnSpcReduction="10000"/>
          </a:bodyPr>
          <a:lstStyle/>
          <a:p>
            <a:r>
              <a:rPr lang="en-US" dirty="0" smtClean="0">
                <a:ea typeface="Courier" charset="0"/>
                <a:cs typeface="Courier" charset="0"/>
              </a:rPr>
              <a:t>x is a </a:t>
            </a:r>
            <a:r>
              <a:rPr lang="en-US" dirty="0" smtClean="0">
                <a:ea typeface="Courier" charset="0"/>
                <a:cs typeface="Courier" charset="0"/>
              </a:rPr>
              <a:t>static external variable</a:t>
            </a:r>
          </a:p>
          <a:p>
            <a:r>
              <a:rPr lang="en-US" dirty="0" smtClean="0">
                <a:ea typeface="Courier" charset="0"/>
                <a:cs typeface="Courier" charset="0"/>
              </a:rPr>
              <a:t>It’s </a:t>
            </a:r>
            <a:r>
              <a:rPr lang="en-US" i="1" dirty="0" smtClean="0">
                <a:ea typeface="Courier" charset="0"/>
                <a:cs typeface="Courier" charset="0"/>
              </a:rPr>
              <a:t>external</a:t>
            </a:r>
            <a:r>
              <a:rPr lang="en-US" dirty="0" smtClean="0">
                <a:ea typeface="Courier" charset="0"/>
                <a:cs typeface="Courier" charset="0"/>
              </a:rPr>
              <a:t> because it’s defined externally to any function in this file</a:t>
            </a:r>
            <a:endParaRPr lang="en-US" dirty="0" smtClean="0">
              <a:ea typeface="Courier" charset="0"/>
              <a:cs typeface="Courier" charset="0"/>
            </a:endParaRPr>
          </a:p>
          <a:p>
            <a:r>
              <a:rPr lang="en-US" dirty="0" smtClean="0">
                <a:ea typeface="Courier" charset="0"/>
                <a:cs typeface="Courier" charset="0"/>
              </a:rPr>
              <a:t>Its scope extends throughout the file </a:t>
            </a:r>
            <a:r>
              <a:rPr lang="en-US" dirty="0" smtClean="0">
                <a:ea typeface="Courier" charset="0"/>
                <a:cs typeface="Courier" charset="0"/>
              </a:rPr>
              <a:t>defining </a:t>
            </a:r>
            <a:r>
              <a:rPr lang="en-US" dirty="0" smtClean="0">
                <a:ea typeface="Courier" charset="0"/>
                <a:cs typeface="Courier" charset="0"/>
              </a:rPr>
              <a:t>it</a:t>
            </a:r>
          </a:p>
          <a:p>
            <a:r>
              <a:rPr lang="en-US" dirty="0" smtClean="0">
                <a:ea typeface="Courier" charset="0"/>
                <a:cs typeface="Courier" charset="0"/>
              </a:rPr>
              <a:t>Static variables are </a:t>
            </a:r>
            <a:r>
              <a:rPr lang="en-US" dirty="0" smtClean="0">
                <a:ea typeface="Courier" charset="0"/>
                <a:cs typeface="Courier" charset="0"/>
              </a:rPr>
              <a:t>invisible outside the file </a:t>
            </a:r>
            <a:r>
              <a:rPr lang="en-US" dirty="0" smtClean="0">
                <a:ea typeface="Courier" charset="0"/>
                <a:cs typeface="Courier" charset="0"/>
              </a:rPr>
              <a:t>that defines them</a:t>
            </a:r>
            <a:endParaRPr lang="en-US" dirty="0" smtClean="0">
              <a:ea typeface="Courier" charset="0"/>
              <a:cs typeface="Courier" charset="0"/>
            </a:endParaRPr>
          </a:p>
          <a:p>
            <a:r>
              <a:rPr lang="en-US" dirty="0" smtClean="0">
                <a:ea typeface="Courier" charset="0"/>
                <a:cs typeface="Courier" charset="0"/>
              </a:rPr>
              <a:t>Storage is allocated when the program starts (before main)</a:t>
            </a:r>
          </a:p>
          <a:p>
            <a:r>
              <a:rPr lang="en-US" dirty="0" smtClean="0">
                <a:ea typeface="Courier" charset="0"/>
                <a:cs typeface="Courier" charset="0"/>
              </a:rPr>
              <a:t>It is akin to </a:t>
            </a:r>
            <a:r>
              <a:rPr lang="en-US" dirty="0" smtClean="0">
                <a:ea typeface="Courier" charset="0"/>
                <a:cs typeface="Courier" charset="0"/>
              </a:rPr>
              <a:t>a private </a:t>
            </a:r>
            <a:r>
              <a:rPr lang="en-US" dirty="0" smtClean="0">
                <a:ea typeface="Courier" charset="0"/>
                <a:cs typeface="Courier" charset="0"/>
              </a:rPr>
              <a:t>static variable in java</a:t>
            </a:r>
          </a:p>
          <a:p>
            <a:r>
              <a:rPr lang="en-US" dirty="0" smtClean="0">
                <a:ea typeface="Courier" charset="0"/>
                <a:cs typeface="Courier" charset="0"/>
              </a:rPr>
              <a:t>Static has to do with visibility, not storage</a:t>
            </a:r>
          </a:p>
        </p:txBody>
      </p:sp>
    </p:spTree>
    <p:extLst>
      <p:ext uri="{BB962C8B-B14F-4D97-AF65-F5344CB8AC3E}">
        <p14:creationId xmlns:p14="http://schemas.microsoft.com/office/powerpoint/2010/main" val="6121808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78064"/>
            <a:ext cx="7315200" cy="1154097"/>
          </a:xfrm>
        </p:spPr>
        <p:txBody>
          <a:bodyPr/>
          <a:lstStyle/>
          <a:p>
            <a:r>
              <a:rPr lang="en-US" dirty="0" smtClean="0"/>
              <a:t>Poll:  Variables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02920" indent="-457200">
              <a:buFont typeface="+mj-lt"/>
              <a:buAutoNum type="arabicPeriod"/>
            </a:pPr>
            <a:r>
              <a:rPr lang="en-US" dirty="0" smtClean="0"/>
              <a:t>What is the scope of an automatic variable in C?</a:t>
            </a:r>
          </a:p>
          <a:p>
            <a:pPr marL="502920" indent="-457200">
              <a:buFont typeface="+mj-lt"/>
              <a:buAutoNum type="arabicPeriod"/>
            </a:pPr>
            <a:r>
              <a:rPr lang="en-US" dirty="0" smtClean="0"/>
              <a:t>What is the scope of an external static variable in C?</a:t>
            </a:r>
          </a:p>
        </p:txBody>
      </p:sp>
    </p:spTree>
    <p:extLst>
      <p:ext uri="{BB962C8B-B14F-4D97-AF65-F5344CB8AC3E}">
        <p14:creationId xmlns:p14="http://schemas.microsoft.com/office/powerpoint/2010/main" val="1818755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3421"/>
            <a:ext cx="7315200" cy="1154097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Omissions to be Addressed Later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Arrays</a:t>
            </a:r>
          </a:p>
          <a:p>
            <a:r>
              <a:rPr lang="en-US" dirty="0" smtClean="0"/>
              <a:t>Character Strings</a:t>
            </a:r>
          </a:p>
          <a:p>
            <a:r>
              <a:rPr lang="en-US" dirty="0" smtClean="0"/>
              <a:t>Pointers vs. References</a:t>
            </a:r>
          </a:p>
          <a:p>
            <a:r>
              <a:rPr lang="en-US" dirty="0" smtClean="0"/>
              <a:t>Static methods</a:t>
            </a:r>
          </a:p>
          <a:p>
            <a:r>
              <a:rPr lang="en-US" dirty="0" smtClean="0"/>
              <a:t>Variable and parameter details</a:t>
            </a:r>
          </a:p>
          <a:p>
            <a:r>
              <a:rPr lang="en-US" dirty="0" err="1" smtClean="0"/>
              <a:t>structs</a:t>
            </a:r>
            <a:endParaRPr lang="en-US" dirty="0" smtClean="0"/>
          </a:p>
          <a:p>
            <a:r>
              <a:rPr lang="en-US" dirty="0" smtClean="0"/>
              <a:t>Header files (i.e. *.h)</a:t>
            </a:r>
          </a:p>
          <a:p>
            <a:r>
              <a:rPr lang="en-US" dirty="0" smtClean="0"/>
              <a:t>The macro pre-processor</a:t>
            </a:r>
          </a:p>
          <a:p>
            <a:r>
              <a:rPr lang="en-US" dirty="0" smtClean="0"/>
              <a:t>Bit operations</a:t>
            </a:r>
          </a:p>
          <a:p>
            <a:r>
              <a:rPr lang="en-US" dirty="0" err="1" smtClean="0"/>
              <a:t>Etc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387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Building a C Program:</a:t>
            </a:r>
            <a:br>
              <a:rPr lang="en-US" dirty="0" smtClean="0"/>
            </a:br>
            <a:r>
              <a:rPr lang="en-US" dirty="0" smtClean="0"/>
              <a:t>Onyx Command Line</a:t>
            </a:r>
            <a:endParaRPr 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3485240"/>
              </p:ext>
            </p:extLst>
          </p:nvPr>
        </p:nvGraphicFramePr>
        <p:xfrm>
          <a:off x="430306" y="2770188"/>
          <a:ext cx="8283388" cy="35385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27523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89974"/>
            <a:ext cx="7315200" cy="1154097"/>
          </a:xfrm>
        </p:spPr>
        <p:txBody>
          <a:bodyPr/>
          <a:lstStyle/>
          <a:p>
            <a:r>
              <a:rPr lang="en-US" dirty="0" smtClean="0"/>
              <a:t>Building a C Program on Onyx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082" y="2126738"/>
            <a:ext cx="7153835" cy="4906074"/>
          </a:xfrm>
        </p:spPr>
      </p:pic>
    </p:spTree>
    <p:extLst>
      <p:ext uri="{BB962C8B-B14F-4D97-AF65-F5344CB8AC3E}">
        <p14:creationId xmlns:p14="http://schemas.microsoft.com/office/powerpoint/2010/main" val="539116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89973"/>
            <a:ext cx="7315200" cy="1154097"/>
          </a:xfrm>
        </p:spPr>
        <p:txBody>
          <a:bodyPr>
            <a:normAutofit/>
          </a:bodyPr>
          <a:lstStyle/>
          <a:p>
            <a:r>
              <a:rPr lang="en-US" dirty="0" smtClean="0"/>
              <a:t>Exercise:  </a:t>
            </a:r>
            <a:r>
              <a:rPr lang="en-US" dirty="0" err="1" smtClean="0"/>
              <a:t>helloworld.c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Login to onyx</a:t>
            </a:r>
          </a:p>
          <a:p>
            <a:r>
              <a:rPr lang="en-US" dirty="0" smtClean="0"/>
              <a:t>Setup a directory folder for your </a:t>
            </a:r>
            <a:r>
              <a:rPr lang="en-US" dirty="0" err="1" smtClean="0"/>
              <a:t>helloworld</a:t>
            </a:r>
            <a:r>
              <a:rPr lang="en-US" dirty="0" smtClean="0"/>
              <a:t> files</a:t>
            </a:r>
          </a:p>
          <a:p>
            <a:r>
              <a:rPr lang="en-US" dirty="0" smtClean="0"/>
              <a:t>Choose your text editor (hint:  use </a:t>
            </a:r>
            <a:r>
              <a:rPr lang="en-US" dirty="0" err="1" smtClean="0"/>
              <a:t>kwrite</a:t>
            </a:r>
            <a:r>
              <a:rPr lang="en-US" dirty="0" smtClean="0"/>
              <a:t> if you know not vim nor </a:t>
            </a:r>
            <a:r>
              <a:rPr lang="en-US" dirty="0" err="1" smtClean="0"/>
              <a:t>emacs</a:t>
            </a:r>
            <a:r>
              <a:rPr lang="en-US" dirty="0" smtClean="0"/>
              <a:t>) and create </a:t>
            </a:r>
            <a:r>
              <a:rPr lang="en-US" dirty="0" err="1" smtClean="0"/>
              <a:t>helloworld.c</a:t>
            </a:r>
            <a:endParaRPr lang="en-US" dirty="0" smtClean="0"/>
          </a:p>
          <a:p>
            <a:r>
              <a:rPr lang="en-US" dirty="0" smtClean="0"/>
              <a:t>Compile and link:  </a:t>
            </a:r>
            <a:r>
              <a:rPr lang="en-US" dirty="0" err="1" smtClean="0">
                <a:latin typeface="Courier" charset="0"/>
                <a:ea typeface="Courier" charset="0"/>
                <a:cs typeface="Courier" charset="0"/>
              </a:rPr>
              <a:t>gcc</a:t>
            </a:r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 </a:t>
            </a:r>
            <a:r>
              <a:rPr lang="mr-IN" dirty="0" smtClean="0">
                <a:latin typeface="Courier" charset="0"/>
                <a:ea typeface="Courier" charset="0"/>
                <a:cs typeface="Courier" charset="0"/>
              </a:rPr>
              <a:t>–</a:t>
            </a:r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o </a:t>
            </a:r>
            <a:r>
              <a:rPr lang="en-US" dirty="0" err="1" smtClean="0">
                <a:latin typeface="Courier" charset="0"/>
                <a:ea typeface="Courier" charset="0"/>
                <a:cs typeface="Courier" charset="0"/>
              </a:rPr>
              <a:t>helloworld</a:t>
            </a:r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 </a:t>
            </a:r>
            <a:r>
              <a:rPr lang="en-US" dirty="0" err="1" smtClean="0">
                <a:latin typeface="Courier" charset="0"/>
                <a:ea typeface="Courier" charset="0"/>
                <a:cs typeface="Courier" charset="0"/>
              </a:rPr>
              <a:t>helloworld.c</a:t>
            </a:r>
            <a:endParaRPr lang="en-US" dirty="0" smtClean="0">
              <a:latin typeface="Courier" charset="0"/>
              <a:ea typeface="Courier" charset="0"/>
              <a:cs typeface="Courier" charset="0"/>
            </a:endParaRPr>
          </a:p>
          <a:p>
            <a:r>
              <a:rPr lang="en-US" dirty="0" smtClean="0"/>
              <a:t>Execute:  </a:t>
            </a:r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./</a:t>
            </a:r>
            <a:r>
              <a:rPr lang="en-US" dirty="0" err="1" smtClean="0">
                <a:latin typeface="Courier" charset="0"/>
                <a:ea typeface="Courier" charset="0"/>
                <a:cs typeface="Courier" charset="0"/>
              </a:rPr>
              <a:t>helloworld</a:t>
            </a:r>
            <a:endParaRPr lang="en-US" dirty="0" smtClean="0">
              <a:latin typeface="Courier" charset="0"/>
              <a:ea typeface="Courier" charset="0"/>
              <a:cs typeface="Courier" charset="0"/>
            </a:endParaRPr>
          </a:p>
          <a:p>
            <a:r>
              <a:rPr lang="en-US" dirty="0" smtClean="0"/>
              <a:t>Analysis:  </a:t>
            </a:r>
            <a:r>
              <a:rPr lang="en-US" dirty="0" smtClean="0">
                <a:latin typeface="Courier" charset="0"/>
                <a:ea typeface="Courier" charset="0"/>
                <a:cs typeface="Courier" charset="0"/>
              </a:rPr>
              <a:t>ls -</a:t>
            </a:r>
            <a:r>
              <a:rPr lang="en-US" dirty="0" err="1" smtClean="0">
                <a:latin typeface="Courier" charset="0"/>
                <a:ea typeface="Courier" charset="0"/>
                <a:cs typeface="Courier" charset="0"/>
              </a:rPr>
              <a:t>lF</a:t>
            </a:r>
            <a:endParaRPr lang="en-US" dirty="0" smtClean="0">
              <a:latin typeface="Courier" charset="0"/>
              <a:ea typeface="Courier" charset="0"/>
              <a:cs typeface="Couri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116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erspective">
  <a:themeElements>
    <a:clrScheme name="Perspective">
      <a:dk1>
        <a:sysClr val="windowText" lastClr="000000"/>
      </a:dk1>
      <a:lt1>
        <a:sysClr val="window" lastClr="FFFFFF"/>
      </a:lt1>
      <a:dk2>
        <a:srgbClr val="283138"/>
      </a:dk2>
      <a:lt2>
        <a:srgbClr val="FF8600"/>
      </a:lt2>
      <a:accent1>
        <a:srgbClr val="838D9B"/>
      </a:accent1>
      <a:accent2>
        <a:srgbClr val="D2610C"/>
      </a:accent2>
      <a:accent3>
        <a:srgbClr val="80716A"/>
      </a:accent3>
      <a:accent4>
        <a:srgbClr val="94147C"/>
      </a:accent4>
      <a:accent5>
        <a:srgbClr val="5D5AD2"/>
      </a:accent5>
      <a:accent6>
        <a:srgbClr val="6F6C7D"/>
      </a:accent6>
      <a:hlink>
        <a:srgbClr val="6187E3"/>
      </a:hlink>
      <a:folHlink>
        <a:srgbClr val="7B8EB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erspectiv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alpha val="100000"/>
                <a:satMod val="160000"/>
                <a:lumMod val="105000"/>
              </a:schemeClr>
            </a:gs>
            <a:gs pos="41000">
              <a:schemeClr val="phClr">
                <a:tint val="57000"/>
                <a:satMod val="180000"/>
                <a:lumMod val="99000"/>
              </a:schemeClr>
            </a:gs>
            <a:gs pos="100000">
              <a:schemeClr val="phClr">
                <a:tint val="80000"/>
                <a:satMod val="200000"/>
                <a:lumMod val="104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6000"/>
                <a:satMod val="130000"/>
                <a:lumMod val="114000"/>
              </a:schemeClr>
            </a:gs>
            <a:gs pos="60000">
              <a:schemeClr val="phClr">
                <a:tint val="100000"/>
                <a:satMod val="106000"/>
                <a:lumMod val="110000"/>
              </a:schemeClr>
            </a:gs>
            <a:gs pos="100000">
              <a:schemeClr val="phClr"/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47625" dist="38100" dir="5400000" sy="98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woPt" dir="br">
              <a:rot lat="0" lon="0" rev="8700000"/>
            </a:lightRig>
          </a:scene3d>
          <a:sp3d prstMaterial="matte">
            <a:bevelT w="25400" h="53975"/>
          </a:sp3d>
        </a:effectStyle>
        <a:effectStyle>
          <a:effectLst>
            <a:reflection blurRad="12700" stA="24000" endPos="28000" dist="50800" dir="5400000" sy="-100000" rotWithShape="0"/>
          </a:effectLst>
          <a:scene3d>
            <a:camera prst="orthographicFront">
              <a:rot lat="0" lon="0" rev="0"/>
            </a:camera>
            <a:lightRig rig="threePt" dir="t">
              <a:rot lat="0" lon="0" rev="4800000"/>
            </a:lightRig>
          </a:scene3d>
          <a:sp3d>
            <a:bevelT w="69850" h="3175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80000"/>
                <a:satMod val="100000"/>
                <a:lumMod val="100000"/>
              </a:schemeClr>
            </a:gs>
            <a:gs pos="65000">
              <a:schemeClr val="phClr">
                <a:tint val="100000"/>
                <a:shade val="95000"/>
                <a:satMod val="100000"/>
                <a:lumMod val="100000"/>
              </a:schemeClr>
            </a:gs>
            <a:gs pos="100000">
              <a:schemeClr val="phClr">
                <a:tint val="88000"/>
                <a:shade val="100000"/>
                <a:satMod val="400000"/>
                <a:lumMod val="1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  <a:satMod val="90000"/>
              </a:schemeClr>
              <a:schemeClr val="phClr">
                <a:shade val="92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Template" id="{1FD93428-2B23-3C40-A770-A5655970DE2D}" vid="{879BB94B-1A51-CF4E-B558-0C654F36F8A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691</TotalTime>
  <Words>818</Words>
  <Application>Microsoft Macintosh PowerPoint</Application>
  <PresentationFormat>On-screen Show (4:3)</PresentationFormat>
  <Paragraphs>141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Courier</vt:lpstr>
      <vt:lpstr>Mangal</vt:lpstr>
      <vt:lpstr>Wingdings</vt:lpstr>
      <vt:lpstr>Arial</vt:lpstr>
      <vt:lpstr>Perspective</vt:lpstr>
      <vt:lpstr>CS253L01</vt:lpstr>
      <vt:lpstr>One-Minute Course in C Programming</vt:lpstr>
      <vt:lpstr>Why Study C?</vt:lpstr>
      <vt:lpstr>If C is so Great and Important, Why Isn’t Everything Written in C?</vt:lpstr>
      <vt:lpstr>C and Java: The Fundamental Differences</vt:lpstr>
      <vt:lpstr>C and Java:  Similarities</vt:lpstr>
      <vt:lpstr>helloworld.c</vt:lpstr>
      <vt:lpstr>Programming Language Terminology</vt:lpstr>
      <vt:lpstr>Introduction to C Variables</vt:lpstr>
      <vt:lpstr>Automatic Variables</vt:lpstr>
      <vt:lpstr>External Variables</vt:lpstr>
      <vt:lpstr>External Static Variables in C</vt:lpstr>
      <vt:lpstr>Poll:  Variables</vt:lpstr>
      <vt:lpstr>Omissions to be Addressed Later</vt:lpstr>
      <vt:lpstr>Building a C Program: Onyx Command Line</vt:lpstr>
      <vt:lpstr>Building a C Program on Onyx</vt:lpstr>
      <vt:lpstr>Exercise:  helloworld.c</vt:lpstr>
    </vt:vector>
  </TitlesOfParts>
  <Company>bsu</Company>
  <LinksUpToDate>false</LinksUpToDate>
  <SharedDoc>false</SharedDoc>
  <HyperlinksChanged>false</HyperlinksChanged>
  <AppVersion>15.0040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CompSci 119 - 001 Introduction to Java </dc:title>
  <dc:creator>jim conrad</dc:creator>
  <cp:lastModifiedBy>Jim Conrad</cp:lastModifiedBy>
  <cp:revision>49</cp:revision>
  <dcterms:created xsi:type="dcterms:W3CDTF">2011-07-30T21:27:56Z</dcterms:created>
  <dcterms:modified xsi:type="dcterms:W3CDTF">2017-12-07T18:01:16Z</dcterms:modified>
</cp:coreProperties>
</file>