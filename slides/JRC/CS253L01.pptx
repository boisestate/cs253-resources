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7"/>
    <p:restoredTop sz="94586"/>
  </p:normalViewPr>
  <p:slideViewPr>
    <p:cSldViewPr snapToGrid="0" snapToObjects="1">
      <p:cViewPr varScale="1">
        <p:scale>
          <a:sx n="98" d="100"/>
          <a:sy n="98" d="100"/>
        </p:scale>
        <p:origin x="132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4"/>
            <a:ext cx="7315200" cy="2595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DCC4A-E03B-6448-9C99-B55A5820C7B7}" type="datetimeFigureOut">
              <a:rPr lang="en-US" smtClean="0"/>
              <a:t>12/6/17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2A03042-1589-E84D-9700-3EA6B71D40B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DCC4A-E03B-6448-9C99-B55A5820C7B7}" type="datetimeFigureOut">
              <a:rPr lang="en-US" smtClean="0"/>
              <a:t>12/6/17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03042-1589-E84D-9700-3EA6B71D40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7"/>
            <a:ext cx="7315200" cy="1098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DCC4A-E03B-6448-9C99-B55A5820C7B7}" type="datetimeFigureOut">
              <a:rPr lang="en-US" smtClean="0"/>
              <a:t>12/6/17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03042-1589-E84D-9700-3EA6B71D40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DCC4A-E03B-6448-9C99-B55A5820C7B7}" type="datetimeFigureOut">
              <a:rPr lang="en-US" smtClean="0"/>
              <a:t>12/6/17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03042-1589-E84D-9700-3EA6B71D40B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0"/>
            <a:ext cx="3566160" cy="35956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DCC4A-E03B-6448-9C99-B55A5820C7B7}" type="datetimeFigureOut">
              <a:rPr lang="en-US" smtClean="0"/>
              <a:t>12/6/17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03042-1589-E84D-9700-3EA6B71D40B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DCC4A-E03B-6448-9C99-B55A5820C7B7}" type="datetimeFigureOut">
              <a:rPr lang="en-US" smtClean="0"/>
              <a:t>12/6/17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03042-1589-E84D-9700-3EA6B71D40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DCC4A-E03B-6448-9C99-B55A5820C7B7}" type="datetimeFigureOut">
              <a:rPr lang="en-US" smtClean="0"/>
              <a:t>12/6/17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03042-1589-E84D-9700-3EA6B71D40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2"/>
            <a:ext cx="2950936" cy="217301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5"/>
            <a:ext cx="2950936" cy="2245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DCC4A-E03B-6448-9C99-B55A5820C7B7}" type="datetimeFigureOut">
              <a:rPr lang="en-US" smtClean="0"/>
              <a:t>12/6/17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03042-1589-E84D-9700-3EA6B71D40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DCC4A-E03B-6448-9C99-B55A5820C7B7}" type="datetimeFigureOut">
              <a:rPr lang="en-US" smtClean="0"/>
              <a:t>12/6/17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03042-1589-E84D-9700-3EA6B71D40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DCC4A-E03B-6448-9C99-B55A5820C7B7}" type="datetimeFigureOut">
              <a:rPr lang="en-US" smtClean="0"/>
              <a:t>12/6/17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03042-1589-E84D-9700-3EA6B71D40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1826709"/>
            <a:ext cx="1492499" cy="448445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DCC4A-E03B-6448-9C99-B55A5820C7B7}" type="datetimeFigureOut">
              <a:rPr lang="en-US" smtClean="0"/>
              <a:t>12/6/17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03042-1589-E84D-9700-3EA6B71D40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3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9BCDCC4A-E03B-6448-9C99-B55A5820C7B7}" type="datetimeFigureOut">
              <a:rPr lang="en-US" smtClean="0"/>
              <a:t>12/6/17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5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2A03042-1589-E84D-9700-3EA6B71D40B6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8" y="855956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tif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CS253L01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Jim Conrad, PhD</a:t>
            </a:r>
          </a:p>
          <a:p>
            <a:r>
              <a:rPr lang="en-US" dirty="0" smtClean="0"/>
              <a:t>Boise State University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97510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One-Minute Course in C Programming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Java Programmers</a:t>
            </a:r>
            <a:r>
              <a:rPr lang="mr-IN" dirty="0" smtClean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388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Study C?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Many major projects are written mostly in C</a:t>
            </a:r>
          </a:p>
          <a:p>
            <a:pPr lvl="1"/>
            <a:r>
              <a:rPr lang="en-US" dirty="0" smtClean="0"/>
              <a:t>Linux kernel</a:t>
            </a:r>
          </a:p>
          <a:p>
            <a:pPr lvl="1"/>
            <a:r>
              <a:rPr lang="en-US" dirty="0" smtClean="0"/>
              <a:t>MS/Windows kernel</a:t>
            </a:r>
          </a:p>
          <a:p>
            <a:pPr lvl="1"/>
            <a:r>
              <a:rPr lang="en-US" dirty="0" smtClean="0"/>
              <a:t>FreeBSD (OS X kernel)</a:t>
            </a:r>
          </a:p>
          <a:p>
            <a:pPr lvl="1"/>
            <a:r>
              <a:rPr lang="en-US" dirty="0" smtClean="0"/>
              <a:t>iOS kernel</a:t>
            </a:r>
          </a:p>
          <a:p>
            <a:pPr lvl="1"/>
            <a:r>
              <a:rPr lang="en-US" dirty="0" smtClean="0"/>
              <a:t>Android kernel</a:t>
            </a:r>
          </a:p>
          <a:p>
            <a:pPr lvl="1"/>
            <a:r>
              <a:rPr lang="en-US" dirty="0" smtClean="0"/>
              <a:t>Oracle database</a:t>
            </a:r>
          </a:p>
          <a:p>
            <a:pPr lvl="1"/>
            <a:r>
              <a:rPr lang="en-US" dirty="0" smtClean="0"/>
              <a:t>MySQL database</a:t>
            </a:r>
          </a:p>
          <a:p>
            <a:pPr lvl="1"/>
            <a:r>
              <a:rPr lang="en-US" dirty="0" smtClean="0"/>
              <a:t>Apache web server</a:t>
            </a:r>
          </a:p>
          <a:p>
            <a:r>
              <a:rPr lang="en-US" dirty="0" smtClean="0"/>
              <a:t>Embedded Systems (Internet of Things)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911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If C is so Great and Important, Why Isn’t Everything Written in C?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35577" y="2743200"/>
            <a:ext cx="3944983" cy="3593592"/>
          </a:xfrm>
        </p:spPr>
        <p:txBody>
          <a:bodyPr/>
          <a:lstStyle/>
          <a:p>
            <a:pPr algn="just"/>
            <a:r>
              <a:rPr lang="en-US" dirty="0" smtClean="0"/>
              <a:t>“Where there is great power there is great responsibility.” </a:t>
            </a:r>
            <a:br>
              <a:rPr lang="en-US" dirty="0" smtClean="0"/>
            </a:b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955858" y="3892439"/>
            <a:ext cx="3567112" cy="22116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86597" y="6104048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-- Marvel, 1962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577201" y="3435531"/>
            <a:ext cx="2903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 -- Winston Churchill, 1906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760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Java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 and Java:</a:t>
            </a:r>
            <a:br>
              <a:rPr lang="en-US" dirty="0" smtClean="0"/>
            </a:br>
            <a:r>
              <a:rPr lang="en-US" dirty="0" smtClean="0"/>
              <a:t>The Fundamental Differences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48641" y="3383280"/>
            <a:ext cx="3931920" cy="2953512"/>
          </a:xfrm>
        </p:spPr>
        <p:txBody>
          <a:bodyPr/>
          <a:lstStyle/>
          <a:p>
            <a:r>
              <a:rPr lang="en-US" dirty="0" smtClean="0"/>
              <a:t>ANSI Standardized Language</a:t>
            </a:r>
          </a:p>
          <a:p>
            <a:r>
              <a:rPr lang="en-US" dirty="0" smtClean="0"/>
              <a:t>Source files named, *.c and *.h</a:t>
            </a:r>
          </a:p>
          <a:p>
            <a:r>
              <a:rPr lang="en-US" dirty="0" smtClean="0"/>
              <a:t>Object files named, *.o</a:t>
            </a:r>
          </a:p>
          <a:p>
            <a:r>
              <a:rPr lang="en-US" dirty="0" smtClean="0"/>
              <a:t>Compiles to machine language</a:t>
            </a:r>
          </a:p>
          <a:p>
            <a:r>
              <a:rPr lang="en-US" dirty="0" smtClean="0"/>
              <a:t>Can be hosted on “bare metal”</a:t>
            </a:r>
          </a:p>
          <a:p>
            <a:r>
              <a:rPr lang="en-US" dirty="0" smtClean="0"/>
              <a:t>Procedural (no objects)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926696" cy="2953512"/>
          </a:xfrm>
        </p:spPr>
        <p:txBody>
          <a:bodyPr/>
          <a:lstStyle/>
          <a:p>
            <a:r>
              <a:rPr lang="en-US" dirty="0" smtClean="0"/>
              <a:t>Language defined by Oracle</a:t>
            </a:r>
          </a:p>
          <a:p>
            <a:r>
              <a:rPr lang="en-US" dirty="0" smtClean="0"/>
              <a:t>Source files named, *.java</a:t>
            </a:r>
          </a:p>
          <a:p>
            <a:r>
              <a:rPr lang="en-US" dirty="0" smtClean="0"/>
              <a:t>Object files named, *.class</a:t>
            </a:r>
          </a:p>
          <a:p>
            <a:r>
              <a:rPr lang="en-US" dirty="0" smtClean="0"/>
              <a:t>Compiles to bytecode</a:t>
            </a:r>
          </a:p>
          <a:p>
            <a:r>
              <a:rPr lang="en-US" dirty="0" smtClean="0"/>
              <a:t>Always hosted by the JRE</a:t>
            </a:r>
          </a:p>
          <a:p>
            <a:r>
              <a:rPr lang="en-US" dirty="0" smtClean="0"/>
              <a:t>Mostly object-oriented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21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 and Java:  Similarities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Code blocks:  {</a:t>
            </a:r>
            <a:r>
              <a:rPr lang="mr-IN" dirty="0" smtClean="0"/>
              <a:t>…</a:t>
            </a:r>
            <a:r>
              <a:rPr lang="en-US" dirty="0" smtClean="0"/>
              <a:t>}</a:t>
            </a:r>
          </a:p>
          <a:p>
            <a:r>
              <a:rPr lang="en-US" dirty="0" smtClean="0"/>
              <a:t>Statements terminated by semicolons (;)</a:t>
            </a:r>
          </a:p>
          <a:p>
            <a:r>
              <a:rPr lang="en-US" dirty="0" smtClean="0"/>
              <a:t>Decision structures:  if, else, else if, switch, case</a:t>
            </a:r>
          </a:p>
          <a:p>
            <a:r>
              <a:rPr lang="en-US" dirty="0" smtClean="0"/>
              <a:t>Looping structures:  while, for, do</a:t>
            </a:r>
          </a:p>
          <a:p>
            <a:r>
              <a:rPr lang="en-US" dirty="0" smtClean="0"/>
              <a:t>Some primitive types:  short, </a:t>
            </a:r>
            <a:r>
              <a:rPr lang="en-US" dirty="0" err="1" smtClean="0"/>
              <a:t>int</a:t>
            </a:r>
            <a:r>
              <a:rPr lang="en-US" dirty="0" smtClean="0"/>
              <a:t>, long, float, double, char</a:t>
            </a:r>
          </a:p>
          <a:p>
            <a:r>
              <a:rPr lang="en-US" dirty="0" smtClean="0"/>
              <a:t>Many operators:  = += -= + - * / ++ -- == &lt;= &gt;= != &amp;&amp; || ? </a:t>
            </a:r>
            <a:r>
              <a:rPr lang="en-US" dirty="0" err="1" smtClean="0"/>
              <a:t>etc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525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helloworld.c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548640" y="2743200"/>
            <a:ext cx="3931920" cy="359359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#include &lt;</a:t>
            </a:r>
            <a:r>
              <a:rPr lang="en-US" sz="1800" dirty="0" err="1" smtClean="0">
                <a:latin typeface="Courier" charset="0"/>
                <a:ea typeface="Courier" charset="0"/>
                <a:cs typeface="Courier" charset="0"/>
              </a:rPr>
              <a:t>stdio.h</a:t>
            </a: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&gt;</a:t>
            </a:r>
          </a:p>
          <a:p>
            <a:pPr marL="45720" indent="0">
              <a:buNone/>
            </a:pP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main() {</a:t>
            </a:r>
          </a:p>
          <a:p>
            <a:pPr marL="45720" indent="0">
              <a:buNone/>
            </a:pP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en-US" sz="1800" dirty="0" err="1" smtClean="0">
                <a:latin typeface="Courier" charset="0"/>
                <a:ea typeface="Courier" charset="0"/>
                <a:cs typeface="Courier" charset="0"/>
              </a:rPr>
              <a:t>printf</a:t>
            </a: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(“Hello world!\n”);</a:t>
            </a:r>
          </a:p>
          <a:p>
            <a:pPr marL="45720" indent="0">
              <a:buNone/>
            </a:pPr>
            <a:r>
              <a:rPr lang="en-US" sz="1800" dirty="0">
                <a:latin typeface="Courier" charset="0"/>
                <a:ea typeface="Courier" charset="0"/>
                <a:cs typeface="Courier" charset="0"/>
              </a:rPr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681727" y="2743200"/>
            <a:ext cx="3926695" cy="3595687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Courier" charset="0"/>
                <a:ea typeface="Courier" charset="0"/>
                <a:cs typeface="Courier" charset="0"/>
              </a:rPr>
              <a:t>#include</a:t>
            </a:r>
            <a:r>
              <a:rPr lang="en-US" dirty="0" smtClean="0"/>
              <a:t> imports definitions from, </a:t>
            </a:r>
            <a:r>
              <a:rPr lang="en-US" dirty="0" err="1" smtClean="0"/>
              <a:t>stdio.h</a:t>
            </a:r>
            <a:r>
              <a:rPr lang="en-US" dirty="0" smtClean="0"/>
              <a:t>, akin to java’s </a:t>
            </a:r>
            <a:r>
              <a:rPr lang="en-US" dirty="0" smtClean="0">
                <a:latin typeface="Courier" charset="0"/>
                <a:ea typeface="Courier" charset="0"/>
                <a:cs typeface="Courier" charset="0"/>
              </a:rPr>
              <a:t>import</a:t>
            </a:r>
            <a:endParaRPr lang="en-US" dirty="0" smtClean="0">
              <a:ea typeface="Courier" charset="0"/>
              <a:cs typeface="Courier" charset="0"/>
            </a:endParaRPr>
          </a:p>
          <a:p>
            <a:r>
              <a:rPr lang="en-US" dirty="0" smtClean="0">
                <a:ea typeface="Courier" charset="0"/>
                <a:cs typeface="Courier" charset="0"/>
              </a:rPr>
              <a:t>No classes in C.  All “methods” are static.</a:t>
            </a:r>
          </a:p>
          <a:p>
            <a:r>
              <a:rPr lang="en-US" dirty="0" smtClean="0">
                <a:ea typeface="Courier" charset="0"/>
                <a:cs typeface="Courier" charset="0"/>
              </a:rPr>
              <a:t>C doesn’t require the details for main() if you don’t depend upon them.</a:t>
            </a:r>
          </a:p>
          <a:p>
            <a:r>
              <a:rPr lang="en-US" dirty="0" err="1" smtClean="0">
                <a:ea typeface="Courier" charset="0"/>
                <a:cs typeface="Courier" charset="0"/>
              </a:rPr>
              <a:t>Stdio.h</a:t>
            </a:r>
            <a:r>
              <a:rPr lang="en-US" dirty="0" smtClean="0">
                <a:ea typeface="Courier" charset="0"/>
                <a:cs typeface="Courier" charset="0"/>
              </a:rPr>
              <a:t> defines </a:t>
            </a:r>
            <a:r>
              <a:rPr lang="en-US" dirty="0" err="1" smtClean="0">
                <a:ea typeface="Courier" charset="0"/>
                <a:cs typeface="Courier" charset="0"/>
              </a:rPr>
              <a:t>printf</a:t>
            </a:r>
            <a:r>
              <a:rPr lang="en-US" dirty="0">
                <a:ea typeface="Courier" charset="0"/>
                <a:cs typeface="Courier" charset="0"/>
              </a:rPr>
              <a:t> </a:t>
            </a:r>
            <a:r>
              <a:rPr lang="en-US" dirty="0" smtClean="0">
                <a:ea typeface="Courier" charset="0"/>
                <a:cs typeface="Courier" charset="0"/>
              </a:rPr>
              <a:t>that, in this example, works akin to  </a:t>
            </a:r>
            <a:r>
              <a:rPr lang="en-US" dirty="0" err="1" smtClean="0">
                <a:latin typeface="Courier" charset="0"/>
                <a:ea typeface="Courier" charset="0"/>
                <a:cs typeface="Courier" charset="0"/>
              </a:rPr>
              <a:t>System.out.print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32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 to C Variables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548640" y="2743200"/>
            <a:ext cx="3931920" cy="359359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18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 sum(</a:t>
            </a:r>
            <a:r>
              <a:rPr lang="en-US" sz="18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 x, </a:t>
            </a:r>
            <a:r>
              <a:rPr lang="en-US" sz="18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 y) {</a:t>
            </a:r>
          </a:p>
          <a:p>
            <a:pPr marL="45720" indent="0">
              <a:buNone/>
            </a:pPr>
            <a:r>
              <a:rPr lang="en-US" sz="18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en-US" sz="18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 z;</a:t>
            </a:r>
          </a:p>
          <a:p>
            <a:pPr marL="45720" indent="0">
              <a:buNone/>
            </a:pPr>
            <a:r>
              <a:rPr lang="en-US" sz="18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  z = x + y;</a:t>
            </a:r>
          </a:p>
          <a:p>
            <a:pPr marL="45720" indent="0">
              <a:buNone/>
            </a:pPr>
            <a:r>
              <a:rPr lang="en-US" sz="18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  return z;</a:t>
            </a:r>
          </a:p>
          <a:p>
            <a:pPr marL="45720" indent="0">
              <a:buNone/>
            </a:pPr>
            <a:r>
              <a:rPr lang="en-US" sz="1800" dirty="0">
                <a:latin typeface="Courier" charset="0"/>
                <a:ea typeface="Courier" charset="0"/>
                <a:cs typeface="Courier" charset="0"/>
              </a:rPr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681727" y="2743200"/>
            <a:ext cx="3926695" cy="3595687"/>
          </a:xfrm>
        </p:spPr>
        <p:txBody>
          <a:bodyPr/>
          <a:lstStyle/>
          <a:p>
            <a:r>
              <a:rPr lang="en-US" dirty="0" smtClean="0">
                <a:ea typeface="Courier" charset="0"/>
                <a:cs typeface="Courier" charset="0"/>
              </a:rPr>
              <a:t>Defines a function named </a:t>
            </a:r>
            <a:r>
              <a:rPr lang="en-US" dirty="0" smtClean="0">
                <a:latin typeface="Courier" charset="0"/>
                <a:ea typeface="Courier" charset="0"/>
                <a:cs typeface="Courier" charset="0"/>
              </a:rPr>
              <a:t>sum</a:t>
            </a:r>
            <a:r>
              <a:rPr lang="en-US" dirty="0" smtClean="0">
                <a:ea typeface="Courier" charset="0"/>
                <a:cs typeface="Courier" charset="0"/>
              </a:rPr>
              <a:t> returning an </a:t>
            </a:r>
            <a:r>
              <a:rPr lang="en-US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US" dirty="0" smtClean="0">
                <a:ea typeface="Courier" charset="0"/>
                <a:cs typeface="Courier" charset="0"/>
              </a:rPr>
              <a:t> value</a:t>
            </a:r>
          </a:p>
          <a:p>
            <a:r>
              <a:rPr lang="en-US" dirty="0" smtClean="0">
                <a:latin typeface="Courier" charset="0"/>
                <a:ea typeface="Courier" charset="0"/>
                <a:cs typeface="Courier" charset="0"/>
              </a:rPr>
              <a:t>sum</a:t>
            </a:r>
            <a:r>
              <a:rPr lang="en-US" dirty="0" smtClean="0">
                <a:ea typeface="Courier" charset="0"/>
                <a:cs typeface="Courier" charset="0"/>
              </a:rPr>
              <a:t> behaves akin to a </a:t>
            </a:r>
            <a:r>
              <a:rPr lang="en-US" i="1" dirty="0" smtClean="0">
                <a:ea typeface="Courier" charset="0"/>
                <a:cs typeface="Courier" charset="0"/>
              </a:rPr>
              <a:t>static method</a:t>
            </a:r>
            <a:r>
              <a:rPr lang="en-US" dirty="0" smtClean="0">
                <a:ea typeface="Courier" charset="0"/>
                <a:cs typeface="Courier" charset="0"/>
              </a:rPr>
              <a:t> in java </a:t>
            </a:r>
            <a:r>
              <a:rPr lang="mr-IN" dirty="0" smtClean="0">
                <a:ea typeface="Courier" charset="0"/>
                <a:cs typeface="Courier" charset="0"/>
              </a:rPr>
              <a:t>–</a:t>
            </a:r>
            <a:r>
              <a:rPr lang="en-US" dirty="0" smtClean="0">
                <a:ea typeface="Courier" charset="0"/>
                <a:cs typeface="Courier" charset="0"/>
              </a:rPr>
              <a:t> there exists one instance of </a:t>
            </a:r>
            <a:r>
              <a:rPr lang="en-US" dirty="0" smtClean="0">
                <a:latin typeface="Courier" charset="0"/>
                <a:ea typeface="Courier" charset="0"/>
                <a:cs typeface="Courier" charset="0"/>
              </a:rPr>
              <a:t>sum</a:t>
            </a:r>
            <a:r>
              <a:rPr lang="en-US" dirty="0" smtClean="0">
                <a:ea typeface="Courier" charset="0"/>
                <a:cs typeface="Courier" charset="0"/>
              </a:rPr>
              <a:t> in the entire program</a:t>
            </a:r>
          </a:p>
          <a:p>
            <a:r>
              <a:rPr lang="en-US" dirty="0" smtClean="0">
                <a:latin typeface="Courier" charset="0"/>
                <a:ea typeface="Courier" charset="0"/>
                <a:cs typeface="Courier" charset="0"/>
              </a:rPr>
              <a:t>x</a:t>
            </a:r>
            <a:r>
              <a:rPr lang="en-US" dirty="0" smtClean="0">
                <a:ea typeface="Courier" charset="0"/>
                <a:cs typeface="Courier" charset="0"/>
              </a:rPr>
              <a:t> and </a:t>
            </a:r>
            <a:r>
              <a:rPr lang="en-US" dirty="0" smtClean="0">
                <a:latin typeface="Courier" charset="0"/>
                <a:ea typeface="Courier" charset="0"/>
                <a:cs typeface="Courier" charset="0"/>
              </a:rPr>
              <a:t>y</a:t>
            </a:r>
            <a:r>
              <a:rPr lang="en-US" dirty="0" smtClean="0">
                <a:ea typeface="Courier" charset="0"/>
                <a:cs typeface="Courier" charset="0"/>
              </a:rPr>
              <a:t> are </a:t>
            </a:r>
            <a:r>
              <a:rPr lang="en-US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US" dirty="0" smtClean="0">
                <a:ea typeface="Courier" charset="0"/>
                <a:cs typeface="Courier" charset="0"/>
              </a:rPr>
              <a:t> parameters</a:t>
            </a:r>
          </a:p>
          <a:p>
            <a:r>
              <a:rPr lang="en-US" dirty="0" smtClean="0">
                <a:latin typeface="Courier" charset="0"/>
                <a:ea typeface="Courier" charset="0"/>
                <a:cs typeface="Courier" charset="0"/>
              </a:rPr>
              <a:t>z</a:t>
            </a:r>
            <a:r>
              <a:rPr lang="en-US" dirty="0" smtClean="0">
                <a:ea typeface="Courier" charset="0"/>
                <a:cs typeface="Courier" charset="0"/>
              </a:rPr>
              <a:t> is an </a:t>
            </a:r>
            <a:r>
              <a:rPr lang="en-US" i="1" dirty="0" smtClean="0">
                <a:ea typeface="Courier" charset="0"/>
                <a:cs typeface="Courier" charset="0"/>
              </a:rPr>
              <a:t>automatic</a:t>
            </a:r>
            <a:r>
              <a:rPr lang="en-US" dirty="0" smtClean="0">
                <a:ea typeface="Courier" charset="0"/>
                <a:cs typeface="Courier" charset="0"/>
              </a:rPr>
              <a:t> (local) </a:t>
            </a:r>
            <a:r>
              <a:rPr lang="en-US" i="1" dirty="0" smtClean="0">
                <a:ea typeface="Courier" charset="0"/>
                <a:cs typeface="Courier" charset="0"/>
              </a:rPr>
              <a:t>variable</a:t>
            </a:r>
            <a:endParaRPr lang="en-US" i="1" dirty="0"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986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Automatic Variables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548640" y="2743200"/>
            <a:ext cx="3931920" cy="359359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18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 sum(</a:t>
            </a:r>
            <a:r>
              <a:rPr lang="en-US" sz="18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 x, </a:t>
            </a:r>
            <a:r>
              <a:rPr lang="en-US" sz="18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 y) {</a:t>
            </a:r>
          </a:p>
          <a:p>
            <a:pPr marL="45720" indent="0">
              <a:buNone/>
            </a:pPr>
            <a:r>
              <a:rPr lang="en-US" sz="18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en-US" sz="18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 z;</a:t>
            </a:r>
          </a:p>
          <a:p>
            <a:pPr marL="45720" indent="0">
              <a:buNone/>
            </a:pPr>
            <a:r>
              <a:rPr lang="en-US" sz="18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  z = x + y;</a:t>
            </a:r>
          </a:p>
          <a:p>
            <a:pPr marL="45720" indent="0">
              <a:buNone/>
            </a:pPr>
            <a:r>
              <a:rPr lang="en-US" sz="18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  return z;</a:t>
            </a:r>
          </a:p>
          <a:p>
            <a:pPr marL="45720" indent="0">
              <a:buNone/>
            </a:pPr>
            <a:r>
              <a:rPr lang="en-US" sz="1800" dirty="0">
                <a:latin typeface="Courier" charset="0"/>
                <a:ea typeface="Courier" charset="0"/>
                <a:cs typeface="Courier" charset="0"/>
              </a:rPr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681727" y="2743200"/>
            <a:ext cx="3926695" cy="3595687"/>
          </a:xfrm>
        </p:spPr>
        <p:txBody>
          <a:bodyPr/>
          <a:lstStyle/>
          <a:p>
            <a:r>
              <a:rPr lang="en-US" dirty="0" smtClean="0">
                <a:latin typeface="Courier" charset="0"/>
                <a:ea typeface="Courier" charset="0"/>
                <a:cs typeface="Courier" charset="0"/>
              </a:rPr>
              <a:t>z</a:t>
            </a:r>
            <a:r>
              <a:rPr lang="en-US" dirty="0" smtClean="0">
                <a:ea typeface="Courier" charset="0"/>
                <a:cs typeface="Courier" charset="0"/>
              </a:rPr>
              <a:t> is an </a:t>
            </a:r>
            <a:r>
              <a:rPr lang="en-US" i="1" dirty="0" smtClean="0">
                <a:ea typeface="Courier" charset="0"/>
                <a:cs typeface="Courier" charset="0"/>
              </a:rPr>
              <a:t>automatic</a:t>
            </a:r>
            <a:r>
              <a:rPr lang="en-US" dirty="0" smtClean="0">
                <a:ea typeface="Courier" charset="0"/>
                <a:cs typeface="Courier" charset="0"/>
              </a:rPr>
              <a:t> (local) </a:t>
            </a:r>
            <a:r>
              <a:rPr lang="en-US" i="1" dirty="0" smtClean="0">
                <a:ea typeface="Courier" charset="0"/>
                <a:cs typeface="Courier" charset="0"/>
              </a:rPr>
              <a:t>variable</a:t>
            </a:r>
          </a:p>
          <a:p>
            <a:r>
              <a:rPr lang="en-US" dirty="0" smtClean="0">
                <a:ea typeface="Courier" charset="0"/>
                <a:cs typeface="Courier" charset="0"/>
              </a:rPr>
              <a:t>Its scope is the compound statement (i.e. code block) in which it’s defined, here</a:t>
            </a:r>
            <a:r>
              <a:rPr lang="mr-IN" dirty="0" smtClean="0">
                <a:ea typeface="Courier" charset="0"/>
                <a:cs typeface="Courier" charset="0"/>
              </a:rPr>
              <a:t>…</a:t>
            </a:r>
            <a:r>
              <a:rPr lang="en-US" dirty="0" smtClean="0">
                <a:ea typeface="Courier" charset="0"/>
                <a:cs typeface="Courier" charset="0"/>
              </a:rPr>
              <a:t> everything between { and }</a:t>
            </a:r>
          </a:p>
          <a:p>
            <a:r>
              <a:rPr lang="en-US" dirty="0" smtClean="0">
                <a:ea typeface="Courier" charset="0"/>
                <a:cs typeface="Courier" charset="0"/>
              </a:rPr>
              <a:t>Storage for automatic variables is allocated when the function is invoked, and recycled when the function returns</a:t>
            </a:r>
            <a:endParaRPr lang="en-US" dirty="0"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873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91127"/>
            <a:ext cx="7315200" cy="1154097"/>
          </a:xfrm>
        </p:spPr>
        <p:txBody>
          <a:bodyPr/>
          <a:lstStyle/>
          <a:p>
            <a:r>
              <a:rPr lang="en-US" dirty="0" smtClean="0"/>
              <a:t>Global Variables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548640" y="2743200"/>
            <a:ext cx="3931920" cy="359359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18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 x=0;</a:t>
            </a:r>
          </a:p>
          <a:p>
            <a:pPr marL="45720" indent="0">
              <a:buNone/>
            </a:pPr>
            <a:endParaRPr lang="en-US" sz="1800" dirty="0">
              <a:latin typeface="Courier" charset="0"/>
              <a:ea typeface="Courier" charset="0"/>
              <a:cs typeface="Courier" charset="0"/>
            </a:endParaRPr>
          </a:p>
          <a:p>
            <a:pPr marL="45720" indent="0">
              <a:buNone/>
            </a:pP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void </a:t>
            </a:r>
            <a:r>
              <a:rPr lang="en-US" sz="1800" dirty="0" err="1" smtClean="0">
                <a:latin typeface="Courier" charset="0"/>
                <a:ea typeface="Courier" charset="0"/>
                <a:cs typeface="Courier" charset="0"/>
              </a:rPr>
              <a:t>incX</a:t>
            </a: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() {</a:t>
            </a:r>
          </a:p>
          <a:p>
            <a:pPr marL="45720" indent="0">
              <a:buNone/>
            </a:pP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	x++;</a:t>
            </a:r>
          </a:p>
          <a:p>
            <a:pPr marL="45720" indent="0">
              <a:buNone/>
            </a:pP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}</a:t>
            </a:r>
          </a:p>
          <a:p>
            <a:pPr marL="45720" indent="0">
              <a:buNone/>
            </a:pPr>
            <a:endParaRPr lang="en-US" sz="1800" dirty="0">
              <a:latin typeface="Courier" charset="0"/>
              <a:ea typeface="Courier" charset="0"/>
              <a:cs typeface="Courier" charset="0"/>
            </a:endParaRPr>
          </a:p>
          <a:p>
            <a:pPr marL="45720" indent="0">
              <a:buNone/>
            </a:pPr>
            <a:r>
              <a:rPr lang="en-US" sz="1800" dirty="0">
                <a:latin typeface="Courier" charset="0"/>
                <a:ea typeface="Courier" charset="0"/>
                <a:cs typeface="Courier" charset="0"/>
              </a:rPr>
              <a:t>void </a:t>
            </a:r>
            <a:r>
              <a:rPr lang="en-US" sz="1800" dirty="0" err="1" smtClean="0">
                <a:latin typeface="Courier" charset="0"/>
                <a:ea typeface="Courier" charset="0"/>
                <a:cs typeface="Courier" charset="0"/>
              </a:rPr>
              <a:t>decX</a:t>
            </a: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() </a:t>
            </a:r>
            <a:r>
              <a:rPr lang="en-US" sz="1800" dirty="0">
                <a:latin typeface="Courier" charset="0"/>
                <a:ea typeface="Courier" charset="0"/>
                <a:cs typeface="Courier" charset="0"/>
              </a:rPr>
              <a:t>{</a:t>
            </a:r>
          </a:p>
          <a:p>
            <a:pPr marL="45720" indent="0">
              <a:buNone/>
            </a:pPr>
            <a:r>
              <a:rPr lang="en-US" sz="18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x--;</a:t>
            </a:r>
            <a:endParaRPr lang="en-US" sz="1800" dirty="0">
              <a:latin typeface="Courier" charset="0"/>
              <a:ea typeface="Courier" charset="0"/>
              <a:cs typeface="Courier" charset="0"/>
            </a:endParaRPr>
          </a:p>
          <a:p>
            <a:pPr marL="45720" indent="0">
              <a:buNone/>
            </a:pPr>
            <a:r>
              <a:rPr lang="en-US" sz="1800" dirty="0">
                <a:latin typeface="Courier" charset="0"/>
                <a:ea typeface="Courier" charset="0"/>
                <a:cs typeface="Courier" charset="0"/>
              </a:rPr>
              <a:t>}</a:t>
            </a:r>
          </a:p>
          <a:p>
            <a:pPr marL="45720" indent="0">
              <a:buNone/>
            </a:pPr>
            <a:endParaRPr lang="en-US" sz="1800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681727" y="2743200"/>
            <a:ext cx="3926695" cy="3595687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Courier" charset="0"/>
                <a:cs typeface="Courier" charset="0"/>
              </a:rPr>
              <a:t>x is a global, </a:t>
            </a:r>
            <a:r>
              <a:rPr lang="en-US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US" dirty="0" smtClean="0">
                <a:ea typeface="Courier" charset="0"/>
                <a:cs typeface="Courier" charset="0"/>
              </a:rPr>
              <a:t> variable</a:t>
            </a:r>
          </a:p>
          <a:p>
            <a:r>
              <a:rPr lang="en-US" dirty="0" smtClean="0">
                <a:ea typeface="Courier" charset="0"/>
                <a:cs typeface="Courier" charset="0"/>
              </a:rPr>
              <a:t>Its scope extends throughout the file that defines it, and can be accessed from another file</a:t>
            </a:r>
          </a:p>
          <a:p>
            <a:r>
              <a:rPr lang="en-US" dirty="0" smtClean="0">
                <a:ea typeface="Courier" charset="0"/>
                <a:cs typeface="Courier" charset="0"/>
              </a:rPr>
              <a:t>Storage is allocated when the program starts (before main)</a:t>
            </a:r>
          </a:p>
          <a:p>
            <a:r>
              <a:rPr lang="en-US" dirty="0" smtClean="0">
                <a:ea typeface="Courier" charset="0"/>
                <a:cs typeface="Courier" charset="0"/>
              </a:rPr>
              <a:t>While it is akin to an initialized public static variable in java</a:t>
            </a:r>
            <a:r>
              <a:rPr lang="mr-IN" dirty="0" smtClean="0">
                <a:ea typeface="Courier" charset="0"/>
                <a:cs typeface="Courier" charset="0"/>
              </a:rPr>
              <a:t>…</a:t>
            </a:r>
            <a:endParaRPr lang="en-US" dirty="0" smtClean="0">
              <a:ea typeface="Courier" charset="0"/>
              <a:cs typeface="Courier" charset="0"/>
            </a:endParaRPr>
          </a:p>
          <a:p>
            <a:r>
              <a:rPr lang="en-US" i="1" dirty="0" smtClean="0">
                <a:ea typeface="Courier" charset="0"/>
                <a:cs typeface="Courier" charset="0"/>
              </a:rPr>
              <a:t>Static</a:t>
            </a:r>
            <a:r>
              <a:rPr lang="en-US" dirty="0" smtClean="0">
                <a:ea typeface="Courier" charset="0"/>
                <a:cs typeface="Courier" charset="0"/>
              </a:rPr>
              <a:t> means something very different in C</a:t>
            </a:r>
            <a:endParaRPr lang="en-US" dirty="0"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77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91127"/>
            <a:ext cx="7315200" cy="115409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Static Variables in C:</a:t>
            </a:r>
            <a:br>
              <a:rPr lang="en-US" dirty="0" smtClean="0"/>
            </a:br>
            <a:r>
              <a:rPr lang="en-US" dirty="0" smtClean="0"/>
              <a:t>Different than Java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548640" y="2743200"/>
            <a:ext cx="3931920" cy="359359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static </a:t>
            </a:r>
            <a:r>
              <a:rPr lang="en-US" sz="18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 x=0;</a:t>
            </a:r>
          </a:p>
          <a:p>
            <a:pPr marL="45720" indent="0">
              <a:buNone/>
            </a:pPr>
            <a:endParaRPr lang="en-US" sz="1800" dirty="0">
              <a:latin typeface="Courier" charset="0"/>
              <a:ea typeface="Courier" charset="0"/>
              <a:cs typeface="Courier" charset="0"/>
            </a:endParaRPr>
          </a:p>
          <a:p>
            <a:pPr marL="45720" indent="0">
              <a:buNone/>
            </a:pP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void </a:t>
            </a:r>
            <a:r>
              <a:rPr lang="en-US" sz="1800" dirty="0" err="1" smtClean="0">
                <a:latin typeface="Courier" charset="0"/>
                <a:ea typeface="Courier" charset="0"/>
                <a:cs typeface="Courier" charset="0"/>
              </a:rPr>
              <a:t>incX</a:t>
            </a: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() {</a:t>
            </a:r>
          </a:p>
          <a:p>
            <a:pPr marL="45720" indent="0">
              <a:buNone/>
            </a:pP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	x++;</a:t>
            </a:r>
          </a:p>
          <a:p>
            <a:pPr marL="45720" indent="0">
              <a:buNone/>
            </a:pP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}</a:t>
            </a:r>
          </a:p>
          <a:p>
            <a:pPr marL="45720" indent="0">
              <a:buNone/>
            </a:pPr>
            <a:endParaRPr lang="en-US" sz="1800" dirty="0">
              <a:latin typeface="Courier" charset="0"/>
              <a:ea typeface="Courier" charset="0"/>
              <a:cs typeface="Courier" charset="0"/>
            </a:endParaRPr>
          </a:p>
          <a:p>
            <a:pPr marL="45720" indent="0">
              <a:buNone/>
            </a:pPr>
            <a:r>
              <a:rPr lang="en-US" sz="1800" dirty="0">
                <a:latin typeface="Courier" charset="0"/>
                <a:ea typeface="Courier" charset="0"/>
                <a:cs typeface="Courier" charset="0"/>
              </a:rPr>
              <a:t>void </a:t>
            </a:r>
            <a:r>
              <a:rPr lang="en-US" sz="1800" dirty="0" err="1" smtClean="0">
                <a:latin typeface="Courier" charset="0"/>
                <a:ea typeface="Courier" charset="0"/>
                <a:cs typeface="Courier" charset="0"/>
              </a:rPr>
              <a:t>decX</a:t>
            </a: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() </a:t>
            </a:r>
            <a:r>
              <a:rPr lang="en-US" sz="1800" dirty="0">
                <a:latin typeface="Courier" charset="0"/>
                <a:ea typeface="Courier" charset="0"/>
                <a:cs typeface="Courier" charset="0"/>
              </a:rPr>
              <a:t>{</a:t>
            </a:r>
          </a:p>
          <a:p>
            <a:pPr marL="45720" indent="0">
              <a:buNone/>
            </a:pPr>
            <a:r>
              <a:rPr lang="en-US" sz="18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x--;</a:t>
            </a:r>
            <a:endParaRPr lang="en-US" sz="1800" dirty="0">
              <a:latin typeface="Courier" charset="0"/>
              <a:ea typeface="Courier" charset="0"/>
              <a:cs typeface="Courier" charset="0"/>
            </a:endParaRPr>
          </a:p>
          <a:p>
            <a:pPr marL="45720" indent="0">
              <a:buNone/>
            </a:pPr>
            <a:r>
              <a:rPr lang="en-US" sz="1800" dirty="0">
                <a:latin typeface="Courier" charset="0"/>
                <a:ea typeface="Courier" charset="0"/>
                <a:cs typeface="Courier" charset="0"/>
              </a:rPr>
              <a:t>}</a:t>
            </a:r>
          </a:p>
          <a:p>
            <a:pPr marL="45720" indent="0">
              <a:buNone/>
            </a:pPr>
            <a:endParaRPr lang="en-US" sz="1800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681727" y="2743200"/>
            <a:ext cx="3926695" cy="3595687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ea typeface="Courier" charset="0"/>
                <a:cs typeface="Courier" charset="0"/>
              </a:rPr>
              <a:t>x is a static, global variable</a:t>
            </a:r>
          </a:p>
          <a:p>
            <a:r>
              <a:rPr lang="en-US" dirty="0" smtClean="0">
                <a:ea typeface="Courier" charset="0"/>
                <a:cs typeface="Courier" charset="0"/>
              </a:rPr>
              <a:t>Its scope extends throughout the file that defines it</a:t>
            </a:r>
          </a:p>
          <a:p>
            <a:r>
              <a:rPr lang="en-US" dirty="0" smtClean="0">
                <a:ea typeface="Courier" charset="0"/>
                <a:cs typeface="Courier" charset="0"/>
              </a:rPr>
              <a:t>Statics are invisible outside the file in which they are defined</a:t>
            </a:r>
          </a:p>
          <a:p>
            <a:r>
              <a:rPr lang="en-US" dirty="0" smtClean="0">
                <a:ea typeface="Courier" charset="0"/>
                <a:cs typeface="Courier" charset="0"/>
              </a:rPr>
              <a:t>Storage is allocated when the program starts (before main)</a:t>
            </a:r>
          </a:p>
          <a:p>
            <a:r>
              <a:rPr lang="en-US" dirty="0" smtClean="0">
                <a:ea typeface="Courier" charset="0"/>
                <a:cs typeface="Courier" charset="0"/>
              </a:rPr>
              <a:t>It is akin to an initialized private static variable in java</a:t>
            </a:r>
          </a:p>
          <a:p>
            <a:r>
              <a:rPr lang="en-US" dirty="0" smtClean="0">
                <a:ea typeface="Courier" charset="0"/>
                <a:cs typeface="Courier" charset="0"/>
              </a:rPr>
              <a:t>Static has to do with visibility, not storage</a:t>
            </a:r>
          </a:p>
        </p:txBody>
      </p:sp>
    </p:spTree>
    <p:extLst>
      <p:ext uri="{BB962C8B-B14F-4D97-AF65-F5344CB8AC3E}">
        <p14:creationId xmlns:p14="http://schemas.microsoft.com/office/powerpoint/2010/main" val="6121808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Template" id="{1FD93428-2B23-3C40-A770-A5655970DE2D}" vid="{879BB94B-1A51-CF4E-B558-0C654F36F8A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606</TotalTime>
  <Words>584</Words>
  <Application>Microsoft Macintosh PowerPoint</Application>
  <PresentationFormat>On-screen Show (4:3)</PresentationFormat>
  <Paragraphs>101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Courier</vt:lpstr>
      <vt:lpstr>Mangal</vt:lpstr>
      <vt:lpstr>Wingdings</vt:lpstr>
      <vt:lpstr>Arial</vt:lpstr>
      <vt:lpstr>Perspective</vt:lpstr>
      <vt:lpstr>CS253L01</vt:lpstr>
      <vt:lpstr>One-Minute Course in C Programming</vt:lpstr>
      <vt:lpstr>Why Study C?</vt:lpstr>
      <vt:lpstr>If C is so Great and Important, Why Isn’t Everything Written in C?</vt:lpstr>
      <vt:lpstr>C and Java: The Fundamental Differences</vt:lpstr>
      <vt:lpstr>C and Java:  Similarities</vt:lpstr>
      <vt:lpstr>helloworld.c</vt:lpstr>
      <vt:lpstr>Intro to C Variables</vt:lpstr>
      <vt:lpstr>Automatic Variables</vt:lpstr>
      <vt:lpstr>Global Variables</vt:lpstr>
      <vt:lpstr>Static Variables in C: Different than Java</vt:lpstr>
    </vt:vector>
  </TitlesOfParts>
  <Company>bsu</Company>
  <LinksUpToDate>false</LinksUpToDate>
  <SharedDoc>false</SharedDoc>
  <HyperlinksChanged>false</HyperlinksChanged>
  <AppVersion>15.0040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CompSci 119 - 001 Introduction to Java </dc:title>
  <dc:creator>jim conrad</dc:creator>
  <cp:lastModifiedBy>Jim Conrad</cp:lastModifiedBy>
  <cp:revision>37</cp:revision>
  <dcterms:created xsi:type="dcterms:W3CDTF">2011-07-30T21:27:56Z</dcterms:created>
  <dcterms:modified xsi:type="dcterms:W3CDTF">2017-12-06T22:10:17Z</dcterms:modified>
</cp:coreProperties>
</file>